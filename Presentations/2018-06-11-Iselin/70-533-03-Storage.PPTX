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72"/>
  </p:notesMasterIdLst>
  <p:handoutMasterIdLst>
    <p:handoutMasterId r:id="rId73"/>
  </p:handoutMasterIdLst>
  <p:sldIdLst>
    <p:sldId id="256" r:id="rId3"/>
    <p:sldId id="373" r:id="rId4"/>
    <p:sldId id="311" r:id="rId5"/>
    <p:sldId id="312" r:id="rId6"/>
    <p:sldId id="313" r:id="rId7"/>
    <p:sldId id="319" r:id="rId8"/>
    <p:sldId id="320" r:id="rId9"/>
    <p:sldId id="387"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75" r:id="rId35"/>
    <p:sldId id="374" r:id="rId36"/>
    <p:sldId id="376" r:id="rId37"/>
    <p:sldId id="315" r:id="rId38"/>
    <p:sldId id="346" r:id="rId39"/>
    <p:sldId id="347" r:id="rId40"/>
    <p:sldId id="348" r:id="rId41"/>
    <p:sldId id="349" r:id="rId42"/>
    <p:sldId id="350" r:id="rId43"/>
    <p:sldId id="351" r:id="rId44"/>
    <p:sldId id="352" r:id="rId45"/>
    <p:sldId id="353" r:id="rId46"/>
    <p:sldId id="354" r:id="rId47"/>
    <p:sldId id="355" r:id="rId48"/>
    <p:sldId id="318" r:id="rId49"/>
    <p:sldId id="356" r:id="rId50"/>
    <p:sldId id="357" r:id="rId51"/>
    <p:sldId id="358" r:id="rId52"/>
    <p:sldId id="359" r:id="rId53"/>
    <p:sldId id="360" r:id="rId54"/>
    <p:sldId id="361" r:id="rId55"/>
    <p:sldId id="362" r:id="rId56"/>
    <p:sldId id="363" r:id="rId57"/>
    <p:sldId id="316" r:id="rId58"/>
    <p:sldId id="364" r:id="rId59"/>
    <p:sldId id="365" r:id="rId60"/>
    <p:sldId id="366" r:id="rId61"/>
    <p:sldId id="367" r:id="rId62"/>
    <p:sldId id="378" r:id="rId63"/>
    <p:sldId id="379" r:id="rId64"/>
    <p:sldId id="380" r:id="rId65"/>
    <p:sldId id="381" r:id="rId66"/>
    <p:sldId id="382" r:id="rId67"/>
    <p:sldId id="383" r:id="rId68"/>
    <p:sldId id="384" r:id="rId69"/>
    <p:sldId id="385" r:id="rId70"/>
    <p:sldId id="386" r:id="rId71"/>
  </p:sldIdLst>
  <p:sldSz cx="9144000" cy="6858000" type="screen4x3"/>
  <p:notesSz cx="6858000" cy="9144000"/>
  <p:embeddedFontLst>
    <p:embeddedFont>
      <p:font typeface="Verdana" panose="020B0604030504040204" pitchFamily="34" charset="0"/>
      <p:regular r:id="rId74"/>
      <p:bold r:id="rId75"/>
      <p:italic r:id="rId76"/>
      <p:boldItalic r:id="rId77"/>
    </p:embeddedFont>
    <p:embeddedFont>
      <p:font typeface="Calibri Light" panose="020F0302020204030204" pitchFamily="34" charset="0"/>
      <p:regular r:id="rId78"/>
      <p:italic r:id="rId79"/>
    </p:embeddedFont>
    <p:embeddedFont>
      <p:font typeface="Segoe UI Light" panose="020B0502040204020203" pitchFamily="34" charset="0"/>
      <p:regular r:id="rId80"/>
      <p:italic r:id="rId81"/>
    </p:embeddedFont>
    <p:embeddedFont>
      <p:font typeface="Calibri" panose="020F0502020204030204" pitchFamily="34" charset="0"/>
      <p:regular r:id="rId82"/>
      <p:bold r:id="rId83"/>
      <p:italic r:id="rId84"/>
      <p:boldItalic r:id="rId85"/>
    </p:embeddedFont>
    <p:embeddedFont>
      <p:font typeface="Consolas" panose="020B0609020204030204" pitchFamily="49" charset="0"/>
      <p:regular r:id="rId86"/>
      <p:bold r:id="rId87"/>
      <p:italic r:id="rId88"/>
      <p:boldItalic r:id="rId89"/>
    </p:embeddedFont>
    <p:embeddedFont>
      <p:font typeface="Segoe UI" panose="020B0502040204020203" pitchFamily="34" charset="0"/>
      <p:regular r:id="rId90"/>
      <p:bold r:id="rId91"/>
      <p:italic r:id="rId92"/>
      <p:boldItalic r:id="rId93"/>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75"/>
            <p14:sldId id="374"/>
            <p14:sldId id="376"/>
          </p14:sldIdLst>
        </p14:section>
        <p14:section name="Access" id="{B92904DA-AD65-48A7-82FB-BA4D438E899A}">
          <p14:sldIdLst>
            <p14:sldId id="315"/>
            <p14:sldId id="346"/>
            <p14:sldId id="347"/>
            <p14:sldId id="348"/>
            <p14:sldId id="349"/>
            <p14:sldId id="350"/>
            <p14:sldId id="351"/>
            <p14:sldId id="352"/>
            <p14:sldId id="353"/>
            <p14:sldId id="354"/>
            <p14:sldId id="355"/>
          </p14:sldIdLst>
        </p14:section>
        <p14:section name="Encryption" id="{4192427E-7B5C-4B75-BE21-14FA26E9ABFE}">
          <p14:sldIdLst>
            <p14:sldId id="318"/>
            <p14:sldId id="356"/>
            <p14:sldId id="357"/>
            <p14:sldId id="358"/>
            <p14:sldId id="359"/>
            <p14:sldId id="360"/>
            <p14:sldId id="361"/>
            <p14:sldId id="362"/>
            <p14:sldId id="363"/>
          </p14:sldIdLst>
        </p14:section>
        <p14:section name="Diag, Monitor, Analytics" id="{CA5ED27E-6529-4197-AC63-77A7AD34E2E9}">
          <p14:sldIdLst>
            <p14:sldId id="316"/>
            <p14:sldId id="364"/>
            <p14:sldId id="365"/>
            <p14:sldId id="366"/>
            <p14:sldId id="36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168" autoAdjust="0"/>
    <p:restoredTop sz="65353" autoAdjust="0"/>
  </p:normalViewPr>
  <p:slideViewPr>
    <p:cSldViewPr snapToGrid="0">
      <p:cViewPr varScale="1">
        <p:scale>
          <a:sx n="54" d="100"/>
          <a:sy n="54" d="100"/>
        </p:scale>
        <p:origin x="1797" y="36"/>
      </p:cViewPr>
      <p:guideLst/>
    </p:cSldViewPr>
  </p:slideViewPr>
  <p:notesTextViewPr>
    <p:cViewPr>
      <p:scale>
        <a:sx n="1" d="1"/>
        <a:sy n="1" d="1"/>
      </p:scale>
      <p:origin x="0" y="0"/>
    </p:cViewPr>
  </p:notesTextViewPr>
  <p:sorterViewPr>
    <p:cViewPr varScale="1">
      <p:scale>
        <a:sx n="100" d="100"/>
        <a:sy n="100" d="100"/>
      </p:scale>
      <p:origin x="0" y="-25224"/>
    </p:cViewPr>
  </p:sorterViewPr>
  <p:notesViewPr>
    <p:cSldViewPr snapToGrid="0">
      <p:cViewPr varScale="1">
        <p:scale>
          <a:sx n="62" d="100"/>
          <a:sy n="62" d="100"/>
        </p:scale>
        <p:origin x="2198"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11.fntdata"/><Relationship Id="rId89" Type="http://schemas.openxmlformats.org/officeDocument/2006/relationships/font" Target="fonts/font16.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3.xml"/><Relationship Id="rId90" Type="http://schemas.openxmlformats.org/officeDocument/2006/relationships/font" Target="fonts/font17.fntdata"/><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font" Target="fonts/font7.fntdata"/><Relationship Id="rId85"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font" Target="fonts/font18.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3.fntdata"/><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9.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4.fntdata"/><Relationship Id="rId61" Type="http://schemas.openxmlformats.org/officeDocument/2006/relationships/slide" Target="slides/slide59.xml"/><Relationship Id="rId82" Type="http://schemas.openxmlformats.org/officeDocument/2006/relationships/font" Target="fonts/font9.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93" Type="http://schemas.openxmlformats.org/officeDocument/2006/relationships/font" Target="fonts/font20.fntdata"/><Relationship Id="rId9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a:latin typeface="Segoe UI" panose="020B0502040204020203" pitchFamily="34" charset="0"/>
              <a:cs typeface="Segoe UI" panose="020B0502040204020203" pitchFamily="34" charset="0"/>
            </a:rPr>
            <a:t>Data is held 3 times in a datacenter region</a:t>
          </a: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a:latin typeface="Segoe UI" panose="020B0502040204020203" pitchFamily="34" charset="0"/>
              <a:cs typeface="Segoe UI" panose="020B0502040204020203" pitchFamily="34" charset="0"/>
            </a:rPr>
            <a:t>Guarded in two to three facilities</a:t>
          </a: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a:latin typeface="Segoe UI" panose="020B0502040204020203" pitchFamily="34" charset="0"/>
              <a:cs typeface="Segoe UI" panose="020B0502040204020203" pitchFamily="34" charset="0"/>
            </a:rPr>
            <a:t>Default option</a:t>
          </a: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pt>
    <dgm:pt modelId="{735E6C13-693C-418E-85F7-110CA63A17C8}" type="pres">
      <dgm:prSet presAssocID="{23607DAF-BCC4-4F3F-9C57-FAB3A360649C}" presName="parentText" presStyleLbl="node1" presStyleIdx="0" presStyleCnt="4">
        <dgm:presLayoutVars>
          <dgm:chMax val="0"/>
          <dgm:bulletEnabled val="1"/>
        </dgm:presLayoutVars>
      </dgm:prSet>
      <dgm:spPr/>
    </dgm:pt>
    <dgm:pt modelId="{C8D5B44D-AD73-4077-97BF-DDB9BE175081}" type="pres">
      <dgm:prSet presAssocID="{23607DAF-BCC4-4F3F-9C57-FAB3A360649C}" presName="childText" presStyleLbl="revTx" presStyleIdx="0" presStyleCnt="4">
        <dgm:presLayoutVars>
          <dgm:bulletEnabled val="1"/>
        </dgm:presLayoutVars>
      </dgm:prSet>
      <dgm:spPr/>
    </dgm:pt>
    <dgm:pt modelId="{B47B6A68-2252-4FFE-8937-9B477E60AEA5}" type="pres">
      <dgm:prSet presAssocID="{9504E666-8CAC-43C5-886F-23798368C4CB}" presName="parentText" presStyleLbl="node1" presStyleIdx="1" presStyleCnt="4">
        <dgm:presLayoutVars>
          <dgm:chMax val="0"/>
          <dgm:bulletEnabled val="1"/>
        </dgm:presLayoutVars>
      </dgm:prSet>
      <dgm:spPr/>
    </dgm:pt>
    <dgm:pt modelId="{64B5CE5E-1535-47A8-997B-35EF0593A42E}" type="pres">
      <dgm:prSet presAssocID="{9504E666-8CAC-43C5-886F-23798368C4CB}" presName="childText" presStyleLbl="revTx" presStyleIdx="1" presStyleCnt="4">
        <dgm:presLayoutVars>
          <dgm:bulletEnabled val="1"/>
        </dgm:presLayoutVars>
      </dgm:prSet>
      <dgm:spPr/>
    </dgm:pt>
    <dgm:pt modelId="{9799D2AC-552A-4927-9C98-BB3B153B3AD7}" type="pres">
      <dgm:prSet presAssocID="{69B5E987-5C4B-47E0-A597-C757A593F2CB}" presName="parentText" presStyleLbl="node1" presStyleIdx="2" presStyleCnt="4">
        <dgm:presLayoutVars>
          <dgm:chMax val="0"/>
          <dgm:bulletEnabled val="1"/>
        </dgm:presLayoutVars>
      </dgm:prSet>
      <dgm:spPr/>
    </dgm:pt>
    <dgm:pt modelId="{7E8C2CE5-D431-4B60-A157-AABFCDC07736}" type="pres">
      <dgm:prSet presAssocID="{69B5E987-5C4B-47E0-A597-C757A593F2CB}" presName="childText" presStyleLbl="revTx" presStyleIdx="2" presStyleCnt="4">
        <dgm:presLayoutVars>
          <dgm:bulletEnabled val="1"/>
        </dgm:presLayoutVars>
      </dgm:prSet>
      <dgm:spPr/>
    </dgm:pt>
    <dgm:pt modelId="{364F56A5-D9AB-4CD2-ABF5-FC3140A9B447}" type="pres">
      <dgm:prSet presAssocID="{EB5724C1-0EBB-437A-BFE6-D41CF6808F45}" presName="parentText" presStyleLbl="node1" presStyleIdx="3" presStyleCnt="4">
        <dgm:presLayoutVars>
          <dgm:chMax val="0"/>
          <dgm:bulletEnabled val="1"/>
        </dgm:presLayoutVars>
      </dgm:prSet>
      <dgm:spPr/>
    </dgm:pt>
    <dgm:pt modelId="{44E1A21D-2E89-478E-8A7A-28FFD8546017}" type="pres">
      <dgm:prSet presAssocID="{EB5724C1-0EBB-437A-BFE6-D41CF6808F45}" presName="childText" presStyleLbl="revTx" presStyleIdx="3" presStyleCnt="4">
        <dgm:presLayoutVars>
          <dgm:bulletEnabled val="1"/>
        </dgm:presLayoutVars>
      </dgm:prSet>
      <dgm:spPr/>
    </dgm:pt>
  </dgm:ptLst>
  <dgm:cxnLst>
    <dgm:cxn modelId="{103C2303-5A2D-4055-888F-2FCE427CF1C6}" srcId="{9504E666-8CAC-43C5-886F-23798368C4CB}" destId="{B5932CAF-05CE-4A30-BD66-3A4B25766C47}" srcOrd="1" destOrd="0" parTransId="{5EC59C75-2EC2-47CC-918D-0A34C9AB6378}" sibTransId="{22A1B7DE-004C-45E3-A759-A138D81E04C8}"/>
    <dgm:cxn modelId="{FA292904-F9CD-451B-B1F0-6A27FF174522}" type="presOf" srcId="{9504E666-8CAC-43C5-886F-23798368C4CB}" destId="{B47B6A68-2252-4FFE-8937-9B477E60AEA5}"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641750B-BB22-4742-8A46-14BE38A2B4DF}" type="presOf" srcId="{E2BE3104-FD56-443B-BFE9-E57D33F8F726}" destId="{C8D5B44D-AD73-4077-97BF-DDB9BE175081}"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72D6E665-31E9-4B25-831B-339AB9CAFB68}" srcId="{8443362E-2C91-40C4-A123-09F38874C635}" destId="{EB5724C1-0EBB-437A-BFE6-D41CF6808F45}" srcOrd="3" destOrd="0" parTransId="{CF0A5A98-389A-4D5D-BBB7-8DA29D87241C}" sibTransId="{1E19E3D8-A607-487D-BFF6-13B3AA91C780}"/>
    <dgm:cxn modelId="{F9CF5D6D-1CB2-4DF4-B84D-9A7CAADA0122}" type="presOf" srcId="{8443362E-2C91-40C4-A123-09F38874C635}" destId="{E4AB73E0-5CDE-49E6-938B-58E741CD60A7}" srcOrd="0" destOrd="0"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AE0E9C55-31DD-4FC9-86C6-7AEA7DD7604D}" srcId="{23607DAF-BCC4-4F3F-9C57-FAB3A360649C}" destId="{E2BE3104-FD56-443B-BFE9-E57D33F8F726}" srcOrd="1" destOrd="0" parTransId="{595EB3AE-02D6-4474-A005-A9A049641E13}" sibTransId="{6F6A4A5C-6948-40FA-9592-6091D1209522}"/>
    <dgm:cxn modelId="{81400C78-C5AB-4FDD-A4EE-9C92E76F4136}" srcId="{69B5E987-5C4B-47E0-A597-C757A593F2CB}" destId="{5E1524F1-1F1D-4073-8BAB-3EF47EB00B34}" srcOrd="0" destOrd="0" parTransId="{414B0997-EF70-419C-AC10-C8F4B24CDE43}" sibTransId="{8B734AA2-2105-4642-ABA9-5FAF4D5A2375}"/>
    <dgm:cxn modelId="{A31CB283-3938-4038-BC7F-AACB763B9D28}" type="presOf" srcId="{B5932CAF-05CE-4A30-BD66-3A4B25766C47}" destId="{64B5CE5E-1535-47A8-997B-35EF0593A42E}" srcOrd="0" destOrd="1" presId="urn:microsoft.com/office/officeart/2005/8/layout/vList2"/>
    <dgm:cxn modelId="{758ECC83-9D6E-4D5D-A167-FCE72F47C2A2}" srcId="{23607DAF-BCC4-4F3F-9C57-FAB3A360649C}" destId="{A14DC635-E9F1-498B-B578-3308FF7E4695}" srcOrd="0" destOrd="0" parTransId="{E7D43C04-0BD3-4016-A122-632D4DF7460D}" sibTransId="{DD5C5CCB-0383-45BF-9FF0-A733F795397E}"/>
    <dgm:cxn modelId="{F55E3896-0D53-4C0F-B6B3-2375FA352231}" type="presOf" srcId="{5E1524F1-1F1D-4073-8BAB-3EF47EB00B34}" destId="{7E8C2CE5-D431-4B60-A157-AABFCDC07736}" srcOrd="0" destOrd="0"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7BC320B2-4D0F-41D4-B3AD-D69C5BDB8E52}" type="presOf" srcId="{A14DC635-E9F1-498B-B578-3308FF7E4695}" destId="{C8D5B44D-AD73-4077-97BF-DDB9BE175081}"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6FC3F4CB-24EE-4F98-85F9-FA4CEF82DF9D}" type="presOf" srcId="{69B5E987-5C4B-47E0-A597-C757A593F2CB}" destId="{9799D2AC-552A-4927-9C98-BB3B153B3AD7}" srcOrd="0" destOrd="0" presId="urn:microsoft.com/office/officeart/2005/8/layout/vList2"/>
    <dgm:cxn modelId="{5083D6D6-115D-4ED1-8EEF-3F2DB6EB0B2C}" type="presOf" srcId="{BA3AC941-D69A-46B1-BA02-5D8595048781}" destId="{64B5CE5E-1535-47A8-997B-35EF0593A42E}" srcOrd="0" destOrd="0" presId="urn:microsoft.com/office/officeart/2005/8/layout/vList2"/>
    <dgm:cxn modelId="{87AD9FDC-7BE7-4303-95F4-87E418B3444E}" type="presOf" srcId="{695058AB-E075-43DF-84EC-3B0D773AD7D4}" destId="{44E1A21D-2E89-478E-8A7A-28FFD8546017}"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84B786E7-3254-44A4-995F-D336632A12C2}" type="presOf" srcId="{EB5724C1-0EBB-437A-BFE6-D41CF6808F45}" destId="{364F56A5-D9AB-4CD2-ABF5-FC3140A9B447}"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404CEDF1-5F7E-40E3-A7B8-C1E7ACC99B25}" srcId="{EB5724C1-0EBB-437A-BFE6-D41CF6808F45}" destId="{E7899C08-FD2C-413E-92B9-E2C5E2EDB896}" srcOrd="1" destOrd="0" parTransId="{1EA989DF-1ECC-4F95-B8D4-538B0D0CE931}" sibTransId="{4E3C3B94-89EC-4766-BE87-27D7AB2F740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6AB76A-528C-43B9-86BE-763A7E6354C8}" type="doc">
      <dgm:prSet loTypeId="urn:microsoft.com/office/officeart/2005/8/layout/vList4" loCatId="list" qsTypeId="urn:microsoft.com/office/officeart/2005/8/quickstyle/3d3" qsCatId="3D" csTypeId="urn:microsoft.com/office/officeart/2005/8/colors/accent0_3" csCatId="mainScheme"/>
      <dgm:spPr/>
      <dgm:t>
        <a:bodyPr/>
        <a:lstStyle/>
        <a:p>
          <a:endParaRPr lang="en-US"/>
        </a:p>
      </dgm:t>
    </dgm:pt>
    <dgm:pt modelId="{E13CDA68-722B-44FB-B83B-7371A09BEDE4}">
      <dgm:prSet custT="1"/>
      <dgm:spPr/>
      <dgm:t>
        <a:bodyPr/>
        <a:lstStyle/>
        <a:p>
          <a:r>
            <a:rPr lang="en-US" sz="1800" dirty="0">
              <a:latin typeface="Segoe UI" panose="020B0502040204020203" pitchFamily="34" charset="0"/>
              <a:cs typeface="Segoe UI" panose="020B0502040204020203" pitchFamily="34" charset="0"/>
            </a:rPr>
            <a:t>VHDs on IaaS VMs</a:t>
          </a:r>
        </a:p>
      </dgm:t>
    </dgm:pt>
    <dgm:pt modelId="{28F91904-EADE-4516-BB09-BAEAA97A7229}" type="par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E9817D36-4121-4415-B125-26E2F4E493F4}" type="sib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C86FBFBC-DC69-4184-8808-C18899E50A9B}">
      <dgm:prSet custT="1"/>
      <dgm:spPr/>
      <dgm:t>
        <a:bodyPr/>
        <a:lstStyle/>
        <a:p>
          <a:r>
            <a:rPr lang="en-US" sz="1400" dirty="0">
              <a:latin typeface="Segoe UI" panose="020B0502040204020203" pitchFamily="34" charset="0"/>
              <a:cs typeface="Segoe UI" panose="020B0502040204020203" pitchFamily="34" charset="0"/>
            </a:rPr>
            <a:t>Azure Disk Encryption </a:t>
          </a:r>
        </a:p>
      </dgm:t>
    </dgm:pt>
    <dgm:pt modelId="{9BB5337E-3AD5-4BE3-857B-3A694F768C7D}" type="par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926CA98D-CF31-4B1B-B561-864286A79430}" type="sib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6B05CE48-A47D-4AAA-A113-1D7BF75EC198}">
      <dgm:prSet custT="1"/>
      <dgm:spPr/>
      <dgm:t>
        <a:bodyPr/>
        <a:lstStyle/>
        <a:p>
          <a:r>
            <a:rPr lang="en-US" sz="1400">
              <a:latin typeface="Segoe UI" panose="020B0502040204020203" pitchFamily="34" charset="0"/>
              <a:cs typeface="Segoe UI" panose="020B0502040204020203" pitchFamily="34" charset="0"/>
            </a:rPr>
            <a:t>No Encryption from Storage Account </a:t>
          </a:r>
        </a:p>
      </dgm:t>
    </dgm:pt>
    <dgm:pt modelId="{346400A6-945A-4246-B00F-A20011644E5B}" type="par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991CF828-0497-45FF-8368-C93553DA631C}" type="sib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E3FD57AD-A187-4C83-8F69-B85F61439EBA}">
      <dgm:prSet custT="1"/>
      <dgm:spPr/>
      <dgm:t>
        <a:bodyPr/>
        <a:lstStyle/>
        <a:p>
          <a:r>
            <a:rPr lang="en-US" sz="1400">
              <a:latin typeface="Segoe UI" panose="020B0502040204020203" pitchFamily="34" charset="0"/>
              <a:cs typeface="Segoe UI" panose="020B0502040204020203" pitchFamily="34" charset="0"/>
            </a:rPr>
            <a:t>No Encryption from Marketplace </a:t>
          </a:r>
        </a:p>
      </dgm:t>
    </dgm:pt>
    <dgm:pt modelId="{BA83E41E-CAAD-4225-BB61-918ACEA598A4}" type="par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7015D27B-0482-4A2B-A5DF-8BD98832173B}" type="sib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BE748425-054C-4359-B733-894D81DDB09B}">
      <dgm:prSet custT="1"/>
      <dgm:spPr/>
      <dgm:t>
        <a:bodyPr/>
        <a:lstStyle/>
        <a:p>
          <a:r>
            <a:rPr lang="en-US" sz="1800">
              <a:latin typeface="Segoe UI" panose="020B0502040204020203" pitchFamily="34" charset="0"/>
              <a:cs typeface="Segoe UI" panose="020B0502040204020203" pitchFamily="34" charset="0"/>
            </a:rPr>
            <a:t>CSE</a:t>
          </a:r>
        </a:p>
      </dgm:t>
    </dgm:pt>
    <dgm:pt modelId="{86D432EC-6602-46B9-8C40-2CA51063C991}" type="par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A0E2798A-3D4C-4202-BA14-4A7BA9C8A152}" type="sib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DD9F0B04-9175-4D4F-8DC0-6AE246712DC1}">
      <dgm:prSet custT="1"/>
      <dgm:spPr/>
      <dgm:t>
        <a:bodyPr/>
        <a:lstStyle/>
        <a:p>
          <a:r>
            <a:rPr lang="en-US" sz="1400">
              <a:latin typeface="Segoe UI" panose="020B0502040204020203" pitchFamily="34" charset="0"/>
              <a:cs typeface="Segoe UI" panose="020B0502040204020203" pitchFamily="34" charset="0"/>
            </a:rPr>
            <a:t>Most secure </a:t>
          </a:r>
        </a:p>
      </dgm:t>
    </dgm:pt>
    <dgm:pt modelId="{BFE54120-8A4F-443F-A097-5B196282720E}" type="par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7C44D187-CDE1-4811-AE58-1846E088AD1B}" type="sib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1DD538D6-C09E-44E4-A7E2-27A99DC3C44E}">
      <dgm:prSet custT="1"/>
      <dgm:spPr/>
      <dgm:t>
        <a:bodyPr/>
        <a:lstStyle/>
        <a:p>
          <a:r>
            <a:rPr lang="en-US" sz="1400">
              <a:latin typeface="Segoe UI" panose="020B0502040204020203" pitchFamily="34" charset="0"/>
              <a:cs typeface="Segoe UI" panose="020B0502040204020203" pitchFamily="34" charset="0"/>
            </a:rPr>
            <a:t>Requires code in application </a:t>
          </a:r>
        </a:p>
      </dgm:t>
    </dgm:pt>
    <dgm:pt modelId="{ACE5DBF6-9C3D-4D87-8E11-2FE7DCF60DA5}" type="par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51C4E3C1-B39A-4A07-AF28-FB0E7B94F3D0}" type="sib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2491B81F-D04C-49AC-8F05-012584C4B849}">
      <dgm:prSet custT="1"/>
      <dgm:spPr/>
      <dgm:t>
        <a:bodyPr/>
        <a:lstStyle/>
        <a:p>
          <a:r>
            <a:rPr lang="en-US" sz="1400">
              <a:latin typeface="Segoe UI" panose="020B0502040204020203" pitchFamily="34" charset="0"/>
              <a:cs typeface="Segoe UI" panose="020B0502040204020203" pitchFamily="34" charset="0"/>
            </a:rPr>
            <a:t>CSE can encrypt table entities, queue messages and blobs</a:t>
          </a:r>
        </a:p>
      </dgm:t>
    </dgm:pt>
    <dgm:pt modelId="{4B083A3E-7226-4807-BD19-9EEB2012B424}" type="par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A5C20F6F-23B5-4F8A-802F-20B638AF24E2}" type="sib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C9565562-D4D0-4D3D-AF89-A0DFB635DDAA}">
      <dgm:prSet custT="1"/>
      <dgm:spPr/>
      <dgm:t>
        <a:bodyPr/>
        <a:lstStyle/>
        <a:p>
          <a:r>
            <a:rPr lang="en-US" sz="1400">
              <a:latin typeface="Segoe UI" panose="020B0502040204020203" pitchFamily="34" charset="0"/>
              <a:cs typeface="Segoe UI" panose="020B0502040204020203" pitchFamily="34" charset="0"/>
            </a:rPr>
            <a:t>SSE can only encrypt blobs </a:t>
          </a:r>
        </a:p>
      </dgm:t>
    </dgm:pt>
    <dgm:pt modelId="{2AE2FE56-A442-4669-BB1D-5E034453D196}" type="par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55732F87-3AEE-495B-BC93-0FCB4C28C879}" type="sib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3CF9E976-F267-42EB-8D62-7B09ABAFB899}">
      <dgm:prSet custT="1"/>
      <dgm:spPr/>
      <dgm:t>
        <a:bodyPr/>
        <a:lstStyle/>
        <a:p>
          <a:r>
            <a:rPr lang="en-US" sz="1400">
              <a:latin typeface="Segoe UI" panose="020B0502040204020203" pitchFamily="34" charset="0"/>
              <a:cs typeface="Segoe UI" panose="020B0502040204020203" pitchFamily="34" charset="0"/>
            </a:rPr>
            <a:t>Client-side requires more resources on the client </a:t>
          </a:r>
        </a:p>
      </dgm:t>
    </dgm:pt>
    <dgm:pt modelId="{F56D9EBD-2F12-4B78-8B31-C8246DFBAAF1}" type="par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C5273DF5-FECC-4D33-BA68-FDFB119CD53B}" type="sib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58664E1E-F6FE-4DC0-98C4-2923D6A979F9}">
      <dgm:prSet custT="1"/>
      <dgm:spPr/>
      <dgm:t>
        <a:bodyPr/>
        <a:lstStyle/>
        <a:p>
          <a:r>
            <a:rPr lang="en-US" sz="1800">
              <a:latin typeface="Segoe UI" panose="020B0502040204020203" pitchFamily="34" charset="0"/>
              <a:cs typeface="Segoe UI" panose="020B0502040204020203" pitchFamily="34" charset="0"/>
            </a:rPr>
            <a:t>SSE </a:t>
          </a:r>
        </a:p>
      </dgm:t>
    </dgm:pt>
    <dgm:pt modelId="{DDD7F81F-DDF2-421E-A3F0-2010639503B2}" type="par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20FA232F-79DE-482F-9B07-BFF447FDA3D0}" type="sib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4F4D1E23-447F-4986-AB12-209E33C9A65D}">
      <dgm:prSet custT="1"/>
      <dgm:spPr/>
      <dgm:t>
        <a:bodyPr/>
        <a:lstStyle/>
        <a:p>
          <a:r>
            <a:rPr lang="en-US" sz="1400">
              <a:latin typeface="Segoe UI" panose="020B0502040204020203" pitchFamily="34" charset="0"/>
              <a:cs typeface="Segoe UI" panose="020B0502040204020203" pitchFamily="34" charset="0"/>
            </a:rPr>
            <a:t>Managed by Azure Storage </a:t>
          </a:r>
        </a:p>
      </dgm:t>
    </dgm:pt>
    <dgm:pt modelId="{05AF68E9-1C08-4F4A-B60F-129FCFDB981C}" type="par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F7D4D0A-AB19-4F47-9BF4-273DA543BFB1}" type="sib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1670AE2-E53A-4C85-9FAF-20787AE7EA21}">
      <dgm:prSet custT="1"/>
      <dgm:spPr/>
      <dgm:t>
        <a:bodyPr/>
        <a:lstStyle/>
        <a:p>
          <a:r>
            <a:rPr lang="en-US" sz="1400">
              <a:latin typeface="Segoe UI" panose="020B0502040204020203" pitchFamily="34" charset="0"/>
              <a:cs typeface="Segoe UI" panose="020B0502040204020203" pitchFamily="34" charset="0"/>
            </a:rPr>
            <a:t>Does not provide encryption in transit </a:t>
          </a:r>
        </a:p>
      </dgm:t>
    </dgm:pt>
    <dgm:pt modelId="{77E6EE0E-82B1-4A91-8DED-9861019FE2B2}" type="par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CC714A2-D207-46AF-931A-7C13F9C707F6}" type="sib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E5F90ED-2157-4D10-9593-32F9FEED0EFA}">
      <dgm:prSet custT="1"/>
      <dgm:spPr/>
      <dgm:t>
        <a:bodyPr/>
        <a:lstStyle/>
        <a:p>
          <a:r>
            <a:rPr lang="en-US" sz="1400">
              <a:latin typeface="Segoe UI" panose="020B0502040204020203" pitchFamily="34" charset="0"/>
              <a:cs typeface="Segoe UI" panose="020B0502040204020203" pitchFamily="34" charset="0"/>
            </a:rPr>
            <a:t>Can encrypt any type of storage account </a:t>
          </a:r>
        </a:p>
      </dgm:t>
    </dgm:pt>
    <dgm:pt modelId="{16E51B1C-94A3-4AB1-90FF-FF1B64989815}" type="par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C4BB3FE6-9C1F-4954-8F8A-87DAE0E58F3D}" type="sib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669898F9-4C0E-41C7-9E58-19D1A82EC08D}">
      <dgm:prSet custT="1"/>
      <dgm:spPr/>
      <dgm:t>
        <a:bodyPr/>
        <a:lstStyle/>
        <a:p>
          <a:r>
            <a:rPr lang="en-US" sz="1400">
              <a:latin typeface="Segoe UI" panose="020B0502040204020203" pitchFamily="34" charset="0"/>
              <a:cs typeface="Segoe UI" panose="020B0502040204020203" pitchFamily="34" charset="0"/>
            </a:rPr>
            <a:t>Azure Disk Encryption and SSE can be used in conjunction </a:t>
          </a:r>
        </a:p>
      </dgm:t>
    </dgm:pt>
    <dgm:pt modelId="{CBB5523E-D1FD-481C-93C3-9E12B59EEE9F}" type="par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C54FD62A-8D82-433E-958C-C0F1F22FAD71}" type="sib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8FDC3124-EABA-439E-8559-BD287ACFAFB3}" type="pres">
      <dgm:prSet presAssocID="{626AB76A-528C-43B9-86BE-763A7E6354C8}" presName="linear" presStyleCnt="0">
        <dgm:presLayoutVars>
          <dgm:dir/>
          <dgm:resizeHandles val="exact"/>
        </dgm:presLayoutVars>
      </dgm:prSet>
      <dgm:spPr/>
    </dgm:pt>
    <dgm:pt modelId="{E3233FBC-A088-47A8-A01A-9C93C1E4265C}" type="pres">
      <dgm:prSet presAssocID="{E13CDA68-722B-44FB-B83B-7371A09BEDE4}" presName="comp" presStyleCnt="0"/>
      <dgm:spPr/>
    </dgm:pt>
    <dgm:pt modelId="{C40A2EE0-F0EF-4644-A39A-BD729073C0FF}" type="pres">
      <dgm:prSet presAssocID="{E13CDA68-722B-44FB-B83B-7371A09BEDE4}" presName="box" presStyleLbl="node1" presStyleIdx="0" presStyleCnt="3"/>
      <dgm:spPr/>
    </dgm:pt>
    <dgm:pt modelId="{FCE2C3E5-ED01-4014-9316-CBD1E6C9FB19}" type="pres">
      <dgm:prSet presAssocID="{E13CDA68-722B-44FB-B83B-7371A09BEDE4}" presName="img" presStyleLbl="fgImgPlace1" presStyleIdx="0" presStyleCnt="3"/>
      <dgm:spPr/>
    </dgm:pt>
    <dgm:pt modelId="{3665330F-4D90-4090-B1E2-FF6DA7E5EF45}" type="pres">
      <dgm:prSet presAssocID="{E13CDA68-722B-44FB-B83B-7371A09BEDE4}" presName="text" presStyleLbl="node1" presStyleIdx="0" presStyleCnt="3">
        <dgm:presLayoutVars>
          <dgm:bulletEnabled val="1"/>
        </dgm:presLayoutVars>
      </dgm:prSet>
      <dgm:spPr/>
    </dgm:pt>
    <dgm:pt modelId="{91A0EA33-6562-4EB0-B12D-1E392EC645E4}" type="pres">
      <dgm:prSet presAssocID="{E9817D36-4121-4415-B125-26E2F4E493F4}" presName="spacer" presStyleCnt="0"/>
      <dgm:spPr/>
    </dgm:pt>
    <dgm:pt modelId="{4E5511E5-6609-4AFE-95FE-4A71BCE799EB}" type="pres">
      <dgm:prSet presAssocID="{BE748425-054C-4359-B733-894D81DDB09B}" presName="comp" presStyleCnt="0"/>
      <dgm:spPr/>
    </dgm:pt>
    <dgm:pt modelId="{7148B7D6-DA27-4F42-8CF2-B38DA676E6FE}" type="pres">
      <dgm:prSet presAssocID="{BE748425-054C-4359-B733-894D81DDB09B}" presName="box" presStyleLbl="node1" presStyleIdx="1" presStyleCnt="3"/>
      <dgm:spPr/>
    </dgm:pt>
    <dgm:pt modelId="{03585EB9-8CE9-42C5-863B-3E1E5538EFF8}" type="pres">
      <dgm:prSet presAssocID="{BE748425-054C-4359-B733-894D81DDB09B}" presName="img" presStyleLbl="fgImgPlace1" presStyleIdx="1" presStyleCnt="3"/>
      <dgm:spPr/>
    </dgm:pt>
    <dgm:pt modelId="{51B077A2-C51F-4294-B02A-298712379EE7}" type="pres">
      <dgm:prSet presAssocID="{BE748425-054C-4359-B733-894D81DDB09B}" presName="text" presStyleLbl="node1" presStyleIdx="1" presStyleCnt="3">
        <dgm:presLayoutVars>
          <dgm:bulletEnabled val="1"/>
        </dgm:presLayoutVars>
      </dgm:prSet>
      <dgm:spPr/>
    </dgm:pt>
    <dgm:pt modelId="{EF75B4EF-1092-4B90-901A-565749D14321}" type="pres">
      <dgm:prSet presAssocID="{A0E2798A-3D4C-4202-BA14-4A7BA9C8A152}" presName="spacer" presStyleCnt="0"/>
      <dgm:spPr/>
    </dgm:pt>
    <dgm:pt modelId="{C1B7A279-622E-4DBF-BC53-D280C65DA620}" type="pres">
      <dgm:prSet presAssocID="{58664E1E-F6FE-4DC0-98C4-2923D6A979F9}" presName="comp" presStyleCnt="0"/>
      <dgm:spPr/>
    </dgm:pt>
    <dgm:pt modelId="{15164FD1-37F1-4457-B1FC-D9135BA9B8BA}" type="pres">
      <dgm:prSet presAssocID="{58664E1E-F6FE-4DC0-98C4-2923D6A979F9}" presName="box" presStyleLbl="node1" presStyleIdx="2" presStyleCnt="3"/>
      <dgm:spPr/>
    </dgm:pt>
    <dgm:pt modelId="{FFBD5807-D8AB-410D-9516-FCA259F2407B}" type="pres">
      <dgm:prSet presAssocID="{58664E1E-F6FE-4DC0-98C4-2923D6A979F9}" presName="img" presStyleLbl="fgImgPlace1" presStyleIdx="2" presStyleCnt="3"/>
      <dgm:spPr/>
    </dgm:pt>
    <dgm:pt modelId="{3F799FA1-191F-4647-87F8-5362C58A4B2F}" type="pres">
      <dgm:prSet presAssocID="{58664E1E-F6FE-4DC0-98C4-2923D6A979F9}" presName="text" presStyleLbl="node1" presStyleIdx="2" presStyleCnt="3">
        <dgm:presLayoutVars>
          <dgm:bulletEnabled val="1"/>
        </dgm:presLayoutVars>
      </dgm:prSet>
      <dgm:spPr/>
    </dgm:pt>
  </dgm:ptLst>
  <dgm:cxnLst>
    <dgm:cxn modelId="{98933003-049D-4073-A0E1-93C913E05ED5}" type="presOf" srcId="{6B05CE48-A47D-4AAA-A113-1D7BF75EC198}" destId="{3665330F-4D90-4090-B1E2-FF6DA7E5EF45}" srcOrd="1" destOrd="2" presId="urn:microsoft.com/office/officeart/2005/8/layout/vList4"/>
    <dgm:cxn modelId="{D19FF310-ED86-4E52-83F4-7CCDDED32FDB}" type="presOf" srcId="{E13CDA68-722B-44FB-B83B-7371A09BEDE4}" destId="{C40A2EE0-F0EF-4644-A39A-BD729073C0FF}" srcOrd="0" destOrd="0" presId="urn:microsoft.com/office/officeart/2005/8/layout/vList4"/>
    <dgm:cxn modelId="{B3D5BD18-09C3-4E5A-AA6A-62C2DBF3FA9B}" srcId="{626AB76A-528C-43B9-86BE-763A7E6354C8}" destId="{58664E1E-F6FE-4DC0-98C4-2923D6A979F9}" srcOrd="2" destOrd="0" parTransId="{DDD7F81F-DDF2-421E-A3F0-2010639503B2}" sibTransId="{20FA232F-79DE-482F-9B07-BFF447FDA3D0}"/>
    <dgm:cxn modelId="{467FDE1B-144E-4FF9-B02F-B1BB6750CB08}" type="presOf" srcId="{DD9F0B04-9175-4D4F-8DC0-6AE246712DC1}" destId="{7148B7D6-DA27-4F42-8CF2-B38DA676E6FE}" srcOrd="0" destOrd="1" presId="urn:microsoft.com/office/officeart/2005/8/layout/vList4"/>
    <dgm:cxn modelId="{84471527-0AE3-46E9-A419-9350EA933D96}" srcId="{58664E1E-F6FE-4DC0-98C4-2923D6A979F9}" destId="{669898F9-4C0E-41C7-9E58-19D1A82EC08D}" srcOrd="3" destOrd="0" parTransId="{CBB5523E-D1FD-481C-93C3-9E12B59EEE9F}" sibTransId="{C54FD62A-8D82-433E-958C-C0F1F22FAD71}"/>
    <dgm:cxn modelId="{E3D2FD2F-D631-4DC8-8AC3-D7AEFED39E59}" type="presOf" srcId="{2491B81F-D04C-49AC-8F05-012584C4B849}" destId="{51B077A2-C51F-4294-B02A-298712379EE7}" srcOrd="1" destOrd="3" presId="urn:microsoft.com/office/officeart/2005/8/layout/vList4"/>
    <dgm:cxn modelId="{D9968A31-1460-428D-9F17-3CE3A6D30F54}" srcId="{BE748425-054C-4359-B733-894D81DDB09B}" destId="{3CF9E976-F267-42EB-8D62-7B09ABAFB899}" srcOrd="4" destOrd="0" parTransId="{F56D9EBD-2F12-4B78-8B31-C8246DFBAAF1}" sibTransId="{C5273DF5-FECC-4D33-BA68-FDFB119CD53B}"/>
    <dgm:cxn modelId="{C7040E32-A298-4A4C-86F5-8AC379803654}" type="presOf" srcId="{3CF9E976-F267-42EB-8D62-7B09ABAFB899}" destId="{51B077A2-C51F-4294-B02A-298712379EE7}" srcOrd="1" destOrd="5" presId="urn:microsoft.com/office/officeart/2005/8/layout/vList4"/>
    <dgm:cxn modelId="{5B159A3B-8AB8-4A24-A38C-C2F13DEBA079}" srcId="{E13CDA68-722B-44FB-B83B-7371A09BEDE4}" destId="{E3FD57AD-A187-4C83-8F69-B85F61439EBA}" srcOrd="2" destOrd="0" parTransId="{BA83E41E-CAAD-4225-BB61-918ACEA598A4}" sibTransId="{7015D27B-0482-4A2B-A5DF-8BD98832173B}"/>
    <dgm:cxn modelId="{3028D53B-1EA8-437B-858A-C202F5C2B54D}" type="presOf" srcId="{1DD538D6-C09E-44E4-A7E2-27A99DC3C44E}" destId="{7148B7D6-DA27-4F42-8CF2-B38DA676E6FE}" srcOrd="0" destOrd="2" presId="urn:microsoft.com/office/officeart/2005/8/layout/vList4"/>
    <dgm:cxn modelId="{499A973F-C99B-4E23-89A8-AD75885CAE56}" type="presOf" srcId="{669898F9-4C0E-41C7-9E58-19D1A82EC08D}" destId="{3F799FA1-191F-4647-87F8-5362C58A4B2F}" srcOrd="1" destOrd="4" presId="urn:microsoft.com/office/officeart/2005/8/layout/vList4"/>
    <dgm:cxn modelId="{044E6942-2B14-457D-B00B-135C8E9A8C6C}" srcId="{E13CDA68-722B-44FB-B83B-7371A09BEDE4}" destId="{C86FBFBC-DC69-4184-8808-C18899E50A9B}" srcOrd="0" destOrd="0" parTransId="{9BB5337E-3AD5-4BE3-857B-3A694F768C7D}" sibTransId="{926CA98D-CF31-4B1B-B561-864286A79430}"/>
    <dgm:cxn modelId="{5E0B3A64-92DA-43CE-BC4C-E465FF16EB4D}" srcId="{626AB76A-528C-43B9-86BE-763A7E6354C8}" destId="{E13CDA68-722B-44FB-B83B-7371A09BEDE4}" srcOrd="0" destOrd="0" parTransId="{28F91904-EADE-4516-BB09-BAEAA97A7229}" sibTransId="{E9817D36-4121-4415-B125-26E2F4E493F4}"/>
    <dgm:cxn modelId="{50A46344-1C87-47E9-BBC1-3C442619BF82}" type="presOf" srcId="{E3FD57AD-A187-4C83-8F69-B85F61439EBA}" destId="{C40A2EE0-F0EF-4644-A39A-BD729073C0FF}" srcOrd="0" destOrd="3" presId="urn:microsoft.com/office/officeart/2005/8/layout/vList4"/>
    <dgm:cxn modelId="{1861DF44-B5E8-43F7-AC28-CD9E8E74918B}" type="presOf" srcId="{2491B81F-D04C-49AC-8F05-012584C4B849}" destId="{7148B7D6-DA27-4F42-8CF2-B38DA676E6FE}" srcOrd="0" destOrd="3" presId="urn:microsoft.com/office/officeart/2005/8/layout/vList4"/>
    <dgm:cxn modelId="{83448A68-C048-41E7-801E-D5BCFA6BE3A9}" srcId="{BE748425-054C-4359-B733-894D81DDB09B}" destId="{C9565562-D4D0-4D3D-AF89-A0DFB635DDAA}" srcOrd="3" destOrd="0" parTransId="{2AE2FE56-A442-4669-BB1D-5E034453D196}" sibTransId="{55732F87-3AEE-495B-BC93-0FCB4C28C879}"/>
    <dgm:cxn modelId="{A7F3114B-A033-4275-B9B2-B7F02E111637}" type="presOf" srcId="{626AB76A-528C-43B9-86BE-763A7E6354C8}" destId="{8FDC3124-EABA-439E-8559-BD287ACFAFB3}" srcOrd="0" destOrd="0" presId="urn:microsoft.com/office/officeart/2005/8/layout/vList4"/>
    <dgm:cxn modelId="{854C4B4C-547E-4E30-BD5C-B86147CC15F5}" type="presOf" srcId="{4F4D1E23-447F-4986-AB12-209E33C9A65D}" destId="{15164FD1-37F1-4457-B1FC-D9135BA9B8BA}" srcOrd="0" destOrd="1" presId="urn:microsoft.com/office/officeart/2005/8/layout/vList4"/>
    <dgm:cxn modelId="{9CC7BA4D-EC16-4DD9-8B45-62F4E6641329}" type="presOf" srcId="{669898F9-4C0E-41C7-9E58-19D1A82EC08D}" destId="{15164FD1-37F1-4457-B1FC-D9135BA9B8BA}" srcOrd="0" destOrd="4" presId="urn:microsoft.com/office/officeart/2005/8/layout/vList4"/>
    <dgm:cxn modelId="{EB10D76F-7AC1-4179-804C-7753D21ABC8C}" type="presOf" srcId="{E13CDA68-722B-44FB-B83B-7371A09BEDE4}" destId="{3665330F-4D90-4090-B1E2-FF6DA7E5EF45}" srcOrd="1" destOrd="0" presId="urn:microsoft.com/office/officeart/2005/8/layout/vList4"/>
    <dgm:cxn modelId="{AC3EAF50-BB73-465D-930E-03B31D3A6F43}" srcId="{58664E1E-F6FE-4DC0-98C4-2923D6A979F9}" destId="{51670AE2-E53A-4C85-9FAF-20787AE7EA21}" srcOrd="1" destOrd="0" parTransId="{77E6EE0E-82B1-4A91-8DED-9861019FE2B2}" sibTransId="{3CC714A2-D207-46AF-931A-7C13F9C707F6}"/>
    <dgm:cxn modelId="{43582853-4499-47FE-BE70-A64C09BAB497}" srcId="{E13CDA68-722B-44FB-B83B-7371A09BEDE4}" destId="{6B05CE48-A47D-4AAA-A113-1D7BF75EC198}" srcOrd="1" destOrd="0" parTransId="{346400A6-945A-4246-B00F-A20011644E5B}" sibTransId="{991CF828-0497-45FF-8368-C93553DA631C}"/>
    <dgm:cxn modelId="{251EA953-EA0E-48E6-84A2-0CA29B2225F9}" type="presOf" srcId="{BE748425-054C-4359-B733-894D81DDB09B}" destId="{51B077A2-C51F-4294-B02A-298712379EE7}" srcOrd="1" destOrd="0" presId="urn:microsoft.com/office/officeart/2005/8/layout/vList4"/>
    <dgm:cxn modelId="{5D2E8677-BF79-45B9-84FA-F76008F6FE97}" type="presOf" srcId="{58664E1E-F6FE-4DC0-98C4-2923D6A979F9}" destId="{15164FD1-37F1-4457-B1FC-D9135BA9B8BA}" srcOrd="0" destOrd="0" presId="urn:microsoft.com/office/officeart/2005/8/layout/vList4"/>
    <dgm:cxn modelId="{6A52F97E-52A7-421F-A598-B4D5834A4562}" srcId="{58664E1E-F6FE-4DC0-98C4-2923D6A979F9}" destId="{3E5F90ED-2157-4D10-9593-32F9FEED0EFA}" srcOrd="2" destOrd="0" parTransId="{16E51B1C-94A3-4AB1-90FF-FF1B64989815}" sibTransId="{C4BB3FE6-9C1F-4954-8F8A-87DAE0E58F3D}"/>
    <dgm:cxn modelId="{A1574D80-3C2B-4FC0-82C8-4E2474D8E527}" type="presOf" srcId="{58664E1E-F6FE-4DC0-98C4-2923D6A979F9}" destId="{3F799FA1-191F-4647-87F8-5362C58A4B2F}" srcOrd="1" destOrd="0" presId="urn:microsoft.com/office/officeart/2005/8/layout/vList4"/>
    <dgm:cxn modelId="{EB546181-213E-4E8E-8273-CA2DAA92B833}" srcId="{BE748425-054C-4359-B733-894D81DDB09B}" destId="{DD9F0B04-9175-4D4F-8DC0-6AE246712DC1}" srcOrd="0" destOrd="0" parTransId="{BFE54120-8A4F-443F-A097-5B196282720E}" sibTransId="{7C44D187-CDE1-4811-AE58-1846E088AD1B}"/>
    <dgm:cxn modelId="{4DF0B386-510A-425F-95A0-9B1EA98DFBEE}" type="presOf" srcId="{C86FBFBC-DC69-4184-8808-C18899E50A9B}" destId="{3665330F-4D90-4090-B1E2-FF6DA7E5EF45}" srcOrd="1" destOrd="1" presId="urn:microsoft.com/office/officeart/2005/8/layout/vList4"/>
    <dgm:cxn modelId="{A1076C8C-4386-4744-BDF3-C0F10DC401DA}" srcId="{626AB76A-528C-43B9-86BE-763A7E6354C8}" destId="{BE748425-054C-4359-B733-894D81DDB09B}" srcOrd="1" destOrd="0" parTransId="{86D432EC-6602-46B9-8C40-2CA51063C991}" sibTransId="{A0E2798A-3D4C-4202-BA14-4A7BA9C8A152}"/>
    <dgm:cxn modelId="{46EA608D-88D1-4F82-986B-1A78F8E38F8A}" type="presOf" srcId="{DD9F0B04-9175-4D4F-8DC0-6AE246712DC1}" destId="{51B077A2-C51F-4294-B02A-298712379EE7}" srcOrd="1" destOrd="1" presId="urn:microsoft.com/office/officeart/2005/8/layout/vList4"/>
    <dgm:cxn modelId="{45FB959B-7422-4BF7-B7CA-DF1CAA05910D}" type="presOf" srcId="{BE748425-054C-4359-B733-894D81DDB09B}" destId="{7148B7D6-DA27-4F42-8CF2-B38DA676E6FE}" srcOrd="0" destOrd="0" presId="urn:microsoft.com/office/officeart/2005/8/layout/vList4"/>
    <dgm:cxn modelId="{377E749C-B3EA-43AA-A6F6-B01B6AD6EE67}" type="presOf" srcId="{C9565562-D4D0-4D3D-AF89-A0DFB635DDAA}" destId="{7148B7D6-DA27-4F42-8CF2-B38DA676E6FE}" srcOrd="0" destOrd="4" presId="urn:microsoft.com/office/officeart/2005/8/layout/vList4"/>
    <dgm:cxn modelId="{7F353BA3-547A-441A-A424-634C418C81BA}" srcId="{BE748425-054C-4359-B733-894D81DDB09B}" destId="{2491B81F-D04C-49AC-8F05-012584C4B849}" srcOrd="2" destOrd="0" parTransId="{4B083A3E-7226-4807-BD19-9EEB2012B424}" sibTransId="{A5C20F6F-23B5-4F8A-802F-20B638AF24E2}"/>
    <dgm:cxn modelId="{55E726A5-4A69-4F3E-9F82-D1D49AEDCAC2}" type="presOf" srcId="{E3FD57AD-A187-4C83-8F69-B85F61439EBA}" destId="{3665330F-4D90-4090-B1E2-FF6DA7E5EF45}" srcOrd="1" destOrd="3" presId="urn:microsoft.com/office/officeart/2005/8/layout/vList4"/>
    <dgm:cxn modelId="{573737A8-9A1C-46F4-9ADD-7886BA85C45A}" type="presOf" srcId="{3E5F90ED-2157-4D10-9593-32F9FEED0EFA}" destId="{15164FD1-37F1-4457-B1FC-D9135BA9B8BA}" srcOrd="0" destOrd="3" presId="urn:microsoft.com/office/officeart/2005/8/layout/vList4"/>
    <dgm:cxn modelId="{E9ABDCA8-EF1B-41DB-92F7-766DF0B71176}" srcId="{58664E1E-F6FE-4DC0-98C4-2923D6A979F9}" destId="{4F4D1E23-447F-4986-AB12-209E33C9A65D}" srcOrd="0" destOrd="0" parTransId="{05AF68E9-1C08-4F4A-B60F-129FCFDB981C}" sibTransId="{5F7D4D0A-AB19-4F47-9BF4-273DA543BFB1}"/>
    <dgm:cxn modelId="{EB3CBEAB-FF54-4541-9582-09374DFADCDC}" type="presOf" srcId="{3CF9E976-F267-42EB-8D62-7B09ABAFB899}" destId="{7148B7D6-DA27-4F42-8CF2-B38DA676E6FE}" srcOrd="0" destOrd="5" presId="urn:microsoft.com/office/officeart/2005/8/layout/vList4"/>
    <dgm:cxn modelId="{5D0E94B7-D9A9-4BB4-8228-ACBA002F255C}" srcId="{BE748425-054C-4359-B733-894D81DDB09B}" destId="{1DD538D6-C09E-44E4-A7E2-27A99DC3C44E}" srcOrd="1" destOrd="0" parTransId="{ACE5DBF6-9C3D-4D87-8E11-2FE7DCF60DA5}" sibTransId="{51C4E3C1-B39A-4A07-AF28-FB0E7B94F3D0}"/>
    <dgm:cxn modelId="{67A11FCD-2FB0-428D-8311-E7FB382D5781}" type="presOf" srcId="{C9565562-D4D0-4D3D-AF89-A0DFB635DDAA}" destId="{51B077A2-C51F-4294-B02A-298712379EE7}" srcOrd="1" destOrd="4" presId="urn:microsoft.com/office/officeart/2005/8/layout/vList4"/>
    <dgm:cxn modelId="{385EAFD0-97F8-486C-BCC5-137443AF3101}" type="presOf" srcId="{51670AE2-E53A-4C85-9FAF-20787AE7EA21}" destId="{15164FD1-37F1-4457-B1FC-D9135BA9B8BA}" srcOrd="0" destOrd="2" presId="urn:microsoft.com/office/officeart/2005/8/layout/vList4"/>
    <dgm:cxn modelId="{69F241E7-A8C0-4C44-8646-321279C1D08E}" type="presOf" srcId="{1DD538D6-C09E-44E4-A7E2-27A99DC3C44E}" destId="{51B077A2-C51F-4294-B02A-298712379EE7}" srcOrd="1" destOrd="2" presId="urn:microsoft.com/office/officeart/2005/8/layout/vList4"/>
    <dgm:cxn modelId="{C170E9E7-2762-4965-96F5-D7EDB2B00247}" type="presOf" srcId="{51670AE2-E53A-4C85-9FAF-20787AE7EA21}" destId="{3F799FA1-191F-4647-87F8-5362C58A4B2F}" srcOrd="1" destOrd="2" presId="urn:microsoft.com/office/officeart/2005/8/layout/vList4"/>
    <dgm:cxn modelId="{8A82D2F1-D6D4-4A92-A2B0-92F7E877692A}" type="presOf" srcId="{4F4D1E23-447F-4986-AB12-209E33C9A65D}" destId="{3F799FA1-191F-4647-87F8-5362C58A4B2F}" srcOrd="1" destOrd="1" presId="urn:microsoft.com/office/officeart/2005/8/layout/vList4"/>
    <dgm:cxn modelId="{7755ECF2-5A6F-4282-AAAD-63A692E3712A}" type="presOf" srcId="{3E5F90ED-2157-4D10-9593-32F9FEED0EFA}" destId="{3F799FA1-191F-4647-87F8-5362C58A4B2F}" srcOrd="1" destOrd="3" presId="urn:microsoft.com/office/officeart/2005/8/layout/vList4"/>
    <dgm:cxn modelId="{35E286F7-FCD1-4BFE-8BC5-2CD4284E3F20}" type="presOf" srcId="{6B05CE48-A47D-4AAA-A113-1D7BF75EC198}" destId="{C40A2EE0-F0EF-4644-A39A-BD729073C0FF}" srcOrd="0" destOrd="2" presId="urn:microsoft.com/office/officeart/2005/8/layout/vList4"/>
    <dgm:cxn modelId="{3D8D26FE-1E6E-4921-8E0F-69639A44998C}" type="presOf" srcId="{C86FBFBC-DC69-4184-8808-C18899E50A9B}" destId="{C40A2EE0-F0EF-4644-A39A-BD729073C0FF}" srcOrd="0" destOrd="1" presId="urn:microsoft.com/office/officeart/2005/8/layout/vList4"/>
    <dgm:cxn modelId="{0975A909-6BC6-4025-BCF4-A8AF2B755AE6}" type="presParOf" srcId="{8FDC3124-EABA-439E-8559-BD287ACFAFB3}" destId="{E3233FBC-A088-47A8-A01A-9C93C1E4265C}" srcOrd="0" destOrd="0" presId="urn:microsoft.com/office/officeart/2005/8/layout/vList4"/>
    <dgm:cxn modelId="{72635F06-41AD-4E5F-BEEA-4FE0BB732AF9}" type="presParOf" srcId="{E3233FBC-A088-47A8-A01A-9C93C1E4265C}" destId="{C40A2EE0-F0EF-4644-A39A-BD729073C0FF}" srcOrd="0" destOrd="0" presId="urn:microsoft.com/office/officeart/2005/8/layout/vList4"/>
    <dgm:cxn modelId="{3DA9D61A-0413-401E-AF3C-C4D3153E62D1}" type="presParOf" srcId="{E3233FBC-A088-47A8-A01A-9C93C1E4265C}" destId="{FCE2C3E5-ED01-4014-9316-CBD1E6C9FB19}" srcOrd="1" destOrd="0" presId="urn:microsoft.com/office/officeart/2005/8/layout/vList4"/>
    <dgm:cxn modelId="{B45857F9-ACF3-4D2D-A3DE-CF7C817F9305}" type="presParOf" srcId="{E3233FBC-A088-47A8-A01A-9C93C1E4265C}" destId="{3665330F-4D90-4090-B1E2-FF6DA7E5EF45}" srcOrd="2" destOrd="0" presId="urn:microsoft.com/office/officeart/2005/8/layout/vList4"/>
    <dgm:cxn modelId="{3C4E0A6F-50DE-43BF-A5EA-6811DF06D71D}" type="presParOf" srcId="{8FDC3124-EABA-439E-8559-BD287ACFAFB3}" destId="{91A0EA33-6562-4EB0-B12D-1E392EC645E4}" srcOrd="1" destOrd="0" presId="urn:microsoft.com/office/officeart/2005/8/layout/vList4"/>
    <dgm:cxn modelId="{7EDEF0C6-C1A4-4E47-914D-DCFB016C0108}" type="presParOf" srcId="{8FDC3124-EABA-439E-8559-BD287ACFAFB3}" destId="{4E5511E5-6609-4AFE-95FE-4A71BCE799EB}" srcOrd="2" destOrd="0" presId="urn:microsoft.com/office/officeart/2005/8/layout/vList4"/>
    <dgm:cxn modelId="{7826DC67-7248-4AAA-8698-666104DA9B04}" type="presParOf" srcId="{4E5511E5-6609-4AFE-95FE-4A71BCE799EB}" destId="{7148B7D6-DA27-4F42-8CF2-B38DA676E6FE}" srcOrd="0" destOrd="0" presId="urn:microsoft.com/office/officeart/2005/8/layout/vList4"/>
    <dgm:cxn modelId="{80827760-C406-4BD1-8343-7BE79CF05787}" type="presParOf" srcId="{4E5511E5-6609-4AFE-95FE-4A71BCE799EB}" destId="{03585EB9-8CE9-42C5-863B-3E1E5538EFF8}" srcOrd="1" destOrd="0" presId="urn:microsoft.com/office/officeart/2005/8/layout/vList4"/>
    <dgm:cxn modelId="{E789B676-D6F6-4756-A58B-436FC039DEF0}" type="presParOf" srcId="{4E5511E5-6609-4AFE-95FE-4A71BCE799EB}" destId="{51B077A2-C51F-4294-B02A-298712379EE7}" srcOrd="2" destOrd="0" presId="urn:microsoft.com/office/officeart/2005/8/layout/vList4"/>
    <dgm:cxn modelId="{14B90D63-6F92-4CB8-B5DB-FBE5AB439455}" type="presParOf" srcId="{8FDC3124-EABA-439E-8559-BD287ACFAFB3}" destId="{EF75B4EF-1092-4B90-901A-565749D14321}" srcOrd="3" destOrd="0" presId="urn:microsoft.com/office/officeart/2005/8/layout/vList4"/>
    <dgm:cxn modelId="{202CD78E-51B5-48F1-9745-2CEC94126F7C}" type="presParOf" srcId="{8FDC3124-EABA-439E-8559-BD287ACFAFB3}" destId="{C1B7A279-622E-4DBF-BC53-D280C65DA620}" srcOrd="4" destOrd="0" presId="urn:microsoft.com/office/officeart/2005/8/layout/vList4"/>
    <dgm:cxn modelId="{0DB37111-E56C-451D-B1FE-804E43507463}" type="presParOf" srcId="{C1B7A279-622E-4DBF-BC53-D280C65DA620}" destId="{15164FD1-37F1-4457-B1FC-D9135BA9B8BA}" srcOrd="0" destOrd="0" presId="urn:microsoft.com/office/officeart/2005/8/layout/vList4"/>
    <dgm:cxn modelId="{D661EDBB-BACC-4BB8-95BA-1469465094B2}" type="presParOf" srcId="{C1B7A279-622E-4DBF-BC53-D280C65DA620}" destId="{FFBD5807-D8AB-410D-9516-FCA259F2407B}" srcOrd="1" destOrd="0" presId="urn:microsoft.com/office/officeart/2005/8/layout/vList4"/>
    <dgm:cxn modelId="{F2F50367-7416-4303-958A-CC305258EBDB}" type="presParOf" srcId="{C1B7A279-622E-4DBF-BC53-D280C65DA620}" destId="{3F799FA1-191F-4647-87F8-5362C58A4B2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Data is held 3 times in a datacenter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Guarded in two to three facilities</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Default option</a:t>
          </a:r>
        </a:p>
      </dsp:txBody>
      <dsp:txXfrm>
        <a:off x="0" y="4503188"/>
        <a:ext cx="8574837" cy="637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2EE0-F0EF-4644-A39A-BD729073C0FF}">
      <dsp:nvSpPr>
        <dsp:cNvPr id="0" name=""/>
        <dsp:cNvSpPr/>
      </dsp:nvSpPr>
      <dsp:spPr>
        <a:xfrm>
          <a:off x="0" y="0"/>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Segoe UI" panose="020B0502040204020203" pitchFamily="34" charset="0"/>
              <a:cs typeface="Segoe UI" panose="020B0502040204020203" pitchFamily="34" charset="0"/>
            </a:rPr>
            <a:t>VHDs on IaaS VMs</a:t>
          </a:r>
        </a:p>
        <a:p>
          <a:pPr marL="114300" lvl="1" indent="-114300" algn="l" defTabSz="622300">
            <a:lnSpc>
              <a:spcPct val="90000"/>
            </a:lnSpc>
            <a:spcBef>
              <a:spcPct val="0"/>
            </a:spcBef>
            <a:spcAft>
              <a:spcPct val="15000"/>
            </a:spcAft>
            <a:buChar char="•"/>
          </a:pPr>
          <a:r>
            <a:rPr lang="en-US" sz="1400" kern="1200" dirty="0">
              <a:latin typeface="Segoe UI" panose="020B0502040204020203" pitchFamily="34" charset="0"/>
              <a:cs typeface="Segoe UI" panose="020B0502040204020203" pitchFamily="34" charset="0"/>
            </a:rPr>
            <a:t>Azure Disk Encryption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Marketplace </a:t>
          </a:r>
        </a:p>
      </dsp:txBody>
      <dsp:txXfrm>
        <a:off x="1875822" y="0"/>
        <a:ext cx="6699014" cy="1608548"/>
      </dsp:txXfrm>
    </dsp:sp>
    <dsp:sp modelId="{FCE2C3E5-ED01-4014-9316-CBD1E6C9FB19}">
      <dsp:nvSpPr>
        <dsp:cNvPr id="0" name=""/>
        <dsp:cNvSpPr/>
      </dsp:nvSpPr>
      <dsp:spPr>
        <a:xfrm>
          <a:off x="160854" y="160854"/>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148B7D6-DA27-4F42-8CF2-B38DA676E6FE}">
      <dsp:nvSpPr>
        <dsp:cNvPr id="0" name=""/>
        <dsp:cNvSpPr/>
      </dsp:nvSpPr>
      <dsp:spPr>
        <a:xfrm>
          <a:off x="0" y="1769403"/>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CSE</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Most secure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Requires code in application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CSE can encrypt table entities, queue messages and blobs</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SSE can only encrypt blobs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Client-side requires more resources on the client </a:t>
          </a:r>
        </a:p>
      </dsp:txBody>
      <dsp:txXfrm>
        <a:off x="1875822" y="1769403"/>
        <a:ext cx="6699014" cy="1608548"/>
      </dsp:txXfrm>
    </dsp:sp>
    <dsp:sp modelId="{03585EB9-8CE9-42C5-863B-3E1E5538EFF8}">
      <dsp:nvSpPr>
        <dsp:cNvPr id="0" name=""/>
        <dsp:cNvSpPr/>
      </dsp:nvSpPr>
      <dsp:spPr>
        <a:xfrm>
          <a:off x="160854" y="1930258"/>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5164FD1-37F1-4457-B1FC-D9135BA9B8BA}">
      <dsp:nvSpPr>
        <dsp:cNvPr id="0" name=""/>
        <dsp:cNvSpPr/>
      </dsp:nvSpPr>
      <dsp:spPr>
        <a:xfrm>
          <a:off x="0" y="3538807"/>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SSE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Managed by Azure Storage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Does not provide encryption in transit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Can encrypt any type of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Azure Disk Encryption and SSE can be used in conjunction </a:t>
          </a:r>
        </a:p>
      </dsp:txBody>
      <dsp:txXfrm>
        <a:off x="1875822" y="3538807"/>
        <a:ext cx="6699014" cy="1608548"/>
      </dsp:txXfrm>
    </dsp:sp>
    <dsp:sp modelId="{FFBD5807-D8AB-410D-9516-FCA259F2407B}">
      <dsp:nvSpPr>
        <dsp:cNvPr id="0" name=""/>
        <dsp:cNvSpPr/>
      </dsp:nvSpPr>
      <dsp:spPr>
        <a:xfrm>
          <a:off x="160854" y="3699662"/>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6/3/2018</a:t>
            </a:fld>
            <a:endParaRPr lang="en-US"/>
          </a:p>
        </p:txBody>
      </p:sp>
      <p:sp>
        <p:nvSpPr>
          <p:cNvPr id="4" name="Footer Placeholder 3">
            <a:extLst>
              <a:ext uri="{FF2B5EF4-FFF2-40B4-BE49-F238E27FC236}">
                <a16:creationId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6/3/2018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33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36</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47</a:t>
            </a:fld>
            <a:endParaRPr lang="en-US" dirty="0"/>
          </a:p>
        </p:txBody>
      </p:sp>
    </p:spTree>
    <p:extLst>
      <p:ext uri="{BB962C8B-B14F-4D97-AF65-F5344CB8AC3E}">
        <p14:creationId xmlns:p14="http://schemas.microsoft.com/office/powerpoint/2010/main" val="2315361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55</a:t>
            </a:fld>
            <a:endParaRPr lang="en-US" dirty="0"/>
          </a:p>
        </p:txBody>
      </p:sp>
    </p:spTree>
    <p:extLst>
      <p:ext uri="{BB962C8B-B14F-4D97-AF65-F5344CB8AC3E}">
        <p14:creationId xmlns:p14="http://schemas.microsoft.com/office/powerpoint/2010/main" val="3961062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56</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61</a:t>
            </a:fld>
            <a:endParaRPr lang="en-US" dirty="0"/>
          </a:p>
        </p:txBody>
      </p:sp>
    </p:spTree>
    <p:extLst>
      <p:ext uri="{BB962C8B-B14F-4D97-AF65-F5344CB8AC3E}">
        <p14:creationId xmlns:p14="http://schemas.microsoft.com/office/powerpoint/2010/main" val="2831611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62</a:t>
            </a:fld>
            <a:endParaRPr lang="en-US" dirty="0"/>
          </a:p>
        </p:txBody>
      </p:sp>
    </p:spTree>
    <p:extLst>
      <p:ext uri="{BB962C8B-B14F-4D97-AF65-F5344CB8AC3E}">
        <p14:creationId xmlns:p14="http://schemas.microsoft.com/office/powerpoint/2010/main" val="2498243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63</a:t>
            </a:fld>
            <a:endParaRPr lang="en-US" dirty="0"/>
          </a:p>
        </p:txBody>
      </p:sp>
    </p:spTree>
    <p:extLst>
      <p:ext uri="{BB962C8B-B14F-4D97-AF65-F5344CB8AC3E}">
        <p14:creationId xmlns:p14="http://schemas.microsoft.com/office/powerpoint/2010/main" val="3706503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64</a:t>
            </a:fld>
            <a:endParaRPr lang="en-US" dirty="0"/>
          </a:p>
        </p:txBody>
      </p:sp>
    </p:spTree>
    <p:extLst>
      <p:ext uri="{BB962C8B-B14F-4D97-AF65-F5344CB8AC3E}">
        <p14:creationId xmlns:p14="http://schemas.microsoft.com/office/powerpoint/2010/main" val="3138015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65</a:t>
            </a:fld>
            <a:endParaRPr lang="en-US" dirty="0"/>
          </a:p>
        </p:txBody>
      </p:sp>
    </p:spTree>
    <p:extLst>
      <p:ext uri="{BB962C8B-B14F-4D97-AF65-F5344CB8AC3E}">
        <p14:creationId xmlns:p14="http://schemas.microsoft.com/office/powerpoint/2010/main" val="3508168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66</a:t>
            </a:fld>
            <a:endParaRPr lang="en-US" dirty="0"/>
          </a:p>
        </p:txBody>
      </p:sp>
    </p:spTree>
    <p:extLst>
      <p:ext uri="{BB962C8B-B14F-4D97-AF65-F5344CB8AC3E}">
        <p14:creationId xmlns:p14="http://schemas.microsoft.com/office/powerpoint/2010/main" val="2268659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67</a:t>
            </a:fld>
            <a:endParaRPr lang="en-US" dirty="0"/>
          </a:p>
        </p:txBody>
      </p:sp>
    </p:spTree>
    <p:extLst>
      <p:ext uri="{BB962C8B-B14F-4D97-AF65-F5344CB8AC3E}">
        <p14:creationId xmlns:p14="http://schemas.microsoft.com/office/powerpoint/2010/main" val="298412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68</a:t>
            </a:fld>
            <a:endParaRPr lang="en-US" dirty="0"/>
          </a:p>
        </p:txBody>
      </p:sp>
    </p:spTree>
    <p:extLst>
      <p:ext uri="{BB962C8B-B14F-4D97-AF65-F5344CB8AC3E}">
        <p14:creationId xmlns:p14="http://schemas.microsoft.com/office/powerpoint/2010/main" val="7066528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69</a:t>
            </a:fld>
            <a:endParaRPr lang="en-US" dirty="0"/>
          </a:p>
        </p:txBody>
      </p:sp>
    </p:spTree>
    <p:extLst>
      <p:ext uri="{BB962C8B-B14F-4D97-AF65-F5344CB8AC3E}">
        <p14:creationId xmlns:p14="http://schemas.microsoft.com/office/powerpoint/2010/main" val="396277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val="612254498"/>
                    </a:ext>
                  </a:extLst>
                </a:gridCol>
                <a:gridCol w="2696305">
                  <a:extLst>
                    <a:ext uri="{9D8B030D-6E8A-4147-A177-3AD203B41FA5}">
                      <a16:colId xmlns:a16="http://schemas.microsoft.com/office/drawing/2014/main" val="1261049811"/>
                    </a:ext>
                  </a:extLst>
                </a:gridCol>
                <a:gridCol w="241057">
                  <a:extLst>
                    <a:ext uri="{9D8B030D-6E8A-4147-A177-3AD203B41FA5}">
                      <a16:colId xmlns:a16="http://schemas.microsoft.com/office/drawing/2014/main" val="2638922956"/>
                    </a:ext>
                  </a:extLst>
                </a:gridCol>
                <a:gridCol w="2696305">
                  <a:extLst>
                    <a:ext uri="{9D8B030D-6E8A-4147-A177-3AD203B41FA5}">
                      <a16:colId xmlns:a16="http://schemas.microsoft.com/office/drawing/2014/main" val="1530065899"/>
                    </a:ext>
                  </a:extLst>
                </a:gridCol>
                <a:gridCol w="221605">
                  <a:extLst>
                    <a:ext uri="{9D8B030D-6E8A-4147-A177-3AD203B41FA5}">
                      <a16:colId xmlns:a16="http://schemas.microsoft.com/office/drawing/2014/main" val="1628348927"/>
                    </a:ext>
                  </a:extLst>
                </a:gridCol>
                <a:gridCol w="2696305">
                  <a:extLst>
                    <a:ext uri="{9D8B030D-6E8A-4147-A177-3AD203B41FA5}">
                      <a16:colId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296024"/>
                  </a:ext>
                </a:extLst>
              </a:tr>
            </a:tbl>
          </a:graphicData>
        </a:graphic>
      </p:graphicFrame>
      <p:sp>
        <p:nvSpPr>
          <p:cNvPr id="7" name="TextBox 6">
            <a:extLst>
              <a:ext uri="{FF2B5EF4-FFF2-40B4-BE49-F238E27FC236}">
                <a16:creationId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03.06.2018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6" name="Footer Placeholder 5">
            <a:extLst>
              <a:ext uri="{FF2B5EF4-FFF2-40B4-BE49-F238E27FC236}">
                <a16:creationId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8" name="Footer Placeholder 7">
            <a:extLst>
              <a:ext uri="{FF2B5EF4-FFF2-40B4-BE49-F238E27FC236}">
                <a16:creationId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4" name="Footer Placeholder 3">
            <a:extLst>
              <a:ext uri="{FF2B5EF4-FFF2-40B4-BE49-F238E27FC236}">
                <a16:creationId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3" name="Footer Placeholder 2">
            <a:extLst>
              <a:ext uri="{FF2B5EF4-FFF2-40B4-BE49-F238E27FC236}">
                <a16:creationId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6" name="Footer Placeholder 5">
            <a:extLst>
              <a:ext uri="{FF2B5EF4-FFF2-40B4-BE49-F238E27FC236}">
                <a16:creationId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6" name="Footer Placeholder 5">
            <a:extLst>
              <a:ext uri="{FF2B5EF4-FFF2-40B4-BE49-F238E27FC236}">
                <a16:creationId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6/3/2018</a:t>
            </a:fld>
            <a:endParaRPr lang="en-US"/>
          </a:p>
        </p:txBody>
      </p:sp>
      <p:sp>
        <p:nvSpPr>
          <p:cNvPr id="5" name="Footer Placeholder 4">
            <a:extLst>
              <a:ext uri="{FF2B5EF4-FFF2-40B4-BE49-F238E27FC236}">
                <a16:creationId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file:///\\myaccount.file.core.windows.net\myshare\myfile" TargetMode="External"/><Relationship Id="rId2" Type="http://schemas.openxmlformats.org/officeDocument/2006/relationships/hyperlink" Target="http://myaccount.blob.core.windows.net/mycontainer/myblob" TargetMode="External"/><Relationship Id="rId1" Type="http://schemas.openxmlformats.org/officeDocument/2006/relationships/slideLayout" Target="../slideLayouts/slideLayout2.xml"/><Relationship Id="rId4" Type="http://schemas.openxmlformats.org/officeDocument/2006/relationships/hyperlink" Target="http://myaccount.file.core.windows.net/myshare/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hyperlink" Target="https://docs.microsoft.com/en-us/azure/storage/blobs/storage-upload-process-images"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id="{0DD7E3D9-0F16-4FC0-8096-670127E70DF5}"/>
              </a:ext>
            </a:extLst>
          </p:cNvPr>
          <p:cNvSpPr>
            <a:spLocks noGrp="1"/>
          </p:cNvSpPr>
          <p:nvPr>
            <p:ph type="subTitle" sz="quarter" idx="1"/>
          </p:nvPr>
        </p:nvSpPr>
        <p:spPr>
          <a:xfrm>
            <a:off x="3685591" y="1549708"/>
            <a:ext cx="5290768"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
        <p:nvSpPr>
          <p:cNvPr id="7" name="Subtitle 2">
            <a:extLst>
              <a:ext uri="{FF2B5EF4-FFF2-40B4-BE49-F238E27FC236}">
                <a16:creationId xmlns:a16="http://schemas.microsoft.com/office/drawing/2014/main" id="{9AFC4098-338A-44A9-A74F-67620EA267BD}"/>
              </a:ext>
            </a:extLst>
          </p:cNvPr>
          <p:cNvSpPr>
            <a:spLocks noGrp="1"/>
          </p:cNvSpPr>
          <p:nvPr>
            <p:ph type="body" sz="quarter" idx="10"/>
          </p:nvPr>
        </p:nvSpPr>
        <p:spPr>
          <a:xfrm>
            <a:off x="261938" y="2756542"/>
            <a:ext cx="3241675" cy="2851150"/>
          </a:xfrm>
          <a:solidFill>
            <a:schemeClr val="bg1"/>
          </a:solidFill>
        </p:spPr>
        <p:txBody>
          <a:bodyPr/>
          <a:lstStyle/>
          <a:p>
            <a:pPr marL="0" indent="0">
              <a:buClr>
                <a:schemeClr val="bg1"/>
              </a:buClr>
              <a:buNone/>
            </a:pPr>
            <a:endParaRPr lang="en-US" sz="2400" b="1" dirty="0">
              <a:solidFill>
                <a:schemeClr val="tx1"/>
              </a:solidFill>
            </a:endParaRPr>
          </a:p>
          <a:p>
            <a:pPr marL="0" indent="0">
              <a:buClr>
                <a:schemeClr val="bg1"/>
              </a:buClr>
              <a:buNone/>
            </a:pPr>
            <a:endParaRPr lang="en-US" sz="2400" b="1" dirty="0">
              <a:solidFill>
                <a:schemeClr val="tx1"/>
              </a:solidFill>
            </a:endParaRPr>
          </a:p>
          <a:p>
            <a:pPr marL="0" indent="0" algn="ctr">
              <a:buClr>
                <a:schemeClr val="bg1"/>
              </a:buClr>
              <a:buNone/>
            </a:pPr>
            <a:r>
              <a:rPr lang="en-US" sz="2400" b="1" dirty="0">
                <a:solidFill>
                  <a:schemeClr val="tx1"/>
                </a:solidFill>
              </a:rPr>
              <a:t>Julio Cruz</a:t>
            </a:r>
          </a:p>
          <a:p>
            <a:pPr marL="0" indent="0" algn="ctr">
              <a:buClr>
                <a:schemeClr val="bg1"/>
              </a:buClr>
              <a:buNone/>
            </a:pPr>
            <a:r>
              <a:rPr lang="en-US" sz="2400" b="1" dirty="0">
                <a:solidFill>
                  <a:schemeClr val="tx1"/>
                </a:solidFill>
              </a:rPr>
              <a:t>Clouds Consultant  MCT</a:t>
            </a:r>
          </a:p>
          <a:p>
            <a:pPr marL="0" indent="0">
              <a:buClr>
                <a:schemeClr val="bg1"/>
              </a:buClr>
              <a:buNone/>
            </a:pPr>
            <a:endParaRPr lang="en-US" sz="1400" dirty="0">
              <a:solidFill>
                <a:schemeClr val="tx1"/>
              </a:solidFill>
            </a:endParaRPr>
          </a:p>
        </p:txBody>
      </p:sp>
    </p:spTree>
    <p:extLst>
      <p:ext uri="{BB962C8B-B14F-4D97-AF65-F5344CB8AC3E}">
        <p14:creationId xmlns:p14="http://schemas.microsoft.com/office/powerpoint/2010/main" val="2856017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id="{63D15067-A858-486F-B33B-2D1E14333555}"/>
              </a:ext>
            </a:extLst>
          </p:cNvPr>
          <p:cNvSpPr>
            <a:spLocks noGrp="1"/>
          </p:cNvSpPr>
          <p:nvPr>
            <p:ph type="subTitle" sz="quarter" idx="1"/>
          </p:nvPr>
        </p:nvSpPr>
        <p:spPr>
          <a:xfrm>
            <a:off x="3685592" y="1776132"/>
            <a:ext cx="5290768"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Identify appropriate blob type for specific storage requirements; read data; change data; set metadata on a container; store data using block and page blobs; stream data using blobs; access blobs securely; implement </a:t>
            </a:r>
            <a:r>
              <a:rPr lang="en-US" dirty="0" err="1"/>
              <a:t>async</a:t>
            </a:r>
            <a:r>
              <a:rPr lang="en-US" dirty="0"/>
              <a:t> blob copy; configure Content Delivery Network (CDN); design blob hierarchies; configure custom domains; scale blob storage; manage SMB file storage; implement Azure StorSimple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id="{222A9BA6-3809-4E3B-95FA-A91088875C13}"/>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id="{CCDA657E-E647-4E2B-BC72-108EC1A7A5B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id="{DB183EE6-F8C1-4B72-952E-A2F42548D35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id="{7D07E0F1-6D44-4173-AA7B-25558381481B}"/>
              </a:ext>
            </a:extLst>
          </p:cNvPr>
          <p:cNvSpPr>
            <a:spLocks noGrp="1"/>
          </p:cNvSpPr>
          <p:nvPr>
            <p:ph type="subTitle" sz="quarter" idx="1"/>
          </p:nvPr>
        </p:nvSpPr>
        <p:spPr>
          <a:xfrm>
            <a:off x="3685593" y="2076451"/>
            <a:ext cx="5290768" cy="3155456"/>
          </a:xfrm>
        </p:spPr>
        <p:txBody>
          <a:bodyPr/>
          <a:lstStyle/>
          <a:p>
            <a:r>
              <a:rPr lang="en-US" sz="2100" dirty="0"/>
              <a:t>Create a storage account</a:t>
            </a:r>
          </a:p>
          <a:p>
            <a:r>
              <a:rPr lang="en-US" sz="2100" dirty="0"/>
              <a:t>Use Windows PowerShell to upload blobs</a:t>
            </a:r>
          </a:p>
          <a:p>
            <a:r>
              <a:rPr lang="en-US" sz="2100" dirty="0"/>
              <a:t>View blob storage in Visual Studio</a:t>
            </a:r>
          </a:p>
          <a:p>
            <a:r>
              <a:rPr lang="en-US" sz="2100" dirty="0"/>
              <a:t>Configure monitoring and logging</a:t>
            </a:r>
          </a:p>
          <a:p>
            <a:r>
              <a:rPr lang="en-US" sz="2100" dirty="0"/>
              <a:t>View logged events</a:t>
            </a:r>
          </a:p>
          <a:p>
            <a:endParaRPr lang="en-US" sz="2100" dirty="0"/>
          </a:p>
        </p:txBody>
      </p:sp>
      <p:sp>
        <p:nvSpPr>
          <p:cNvPr id="5" name="Text Placeholder 4">
            <a:extLst>
              <a:ext uri="{FF2B5EF4-FFF2-40B4-BE49-F238E27FC236}">
                <a16:creationId xmlns:a16="http://schemas.microsoft.com/office/drawing/2014/main" id="{652FC8F6-9C61-42CD-90A4-1EBDD2FB72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id="{336F17DD-FB20-457C-8BD5-ED392D89F392}"/>
              </a:ext>
            </a:extLst>
          </p:cNvPr>
          <p:cNvSpPr>
            <a:spLocks noGrp="1"/>
          </p:cNvSpPr>
          <p:nvPr>
            <p:ph type="body" idx="1"/>
          </p:nvPr>
        </p:nvSpPr>
        <p:spPr/>
        <p:txBody>
          <a:bodyPr/>
          <a:lstStyle/>
          <a:p>
            <a:pPr lvl="1"/>
            <a:r>
              <a:rPr lang="en-US" sz="2800" dirty="0"/>
              <a:t>Universal usage</a:t>
            </a:r>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a:t>Azure subscription </a:t>
            </a:r>
          </a:p>
          <a:p>
            <a:r>
              <a:rPr lang="en-US" sz="2400" dirty="0"/>
              <a:t>100 storage accounts / subscription</a:t>
            </a:r>
          </a:p>
        </p:txBody>
      </p:sp>
      <p:sp>
        <p:nvSpPr>
          <p:cNvPr id="4" name="Text Placeholder 3">
            <a:extLst>
              <a:ext uri="{FF2B5EF4-FFF2-40B4-BE49-F238E27FC236}">
                <a16:creationId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id="{6448B306-DD69-4247-9A15-A544D097CF2B}"/>
              </a:ext>
            </a:extLst>
          </p:cNvPr>
          <p:cNvGraphicFramePr/>
          <p:nvPr>
            <p:extLst>
              <p:ext uri="{D42A27DB-BD31-4B8C-83A1-F6EECF244321}">
                <p14:modId xmlns:p14="http://schemas.microsoft.com/office/powerpoint/2010/main" val="2173624709"/>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0747-1833-4D87-B42A-2DD19B54ACE9}"/>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7A199033-904F-4B86-9515-1D193B3404CA}"/>
              </a:ext>
            </a:extLst>
          </p:cNvPr>
          <p:cNvSpPr>
            <a:spLocks noGrp="1"/>
          </p:cNvSpPr>
          <p:nvPr>
            <p:ph type="body" idx="1"/>
          </p:nvPr>
        </p:nvSpPr>
        <p:spPr/>
        <p:txBody>
          <a:bodyPr/>
          <a:lstStyle/>
          <a:p>
            <a:pPr marL="0" indent="0">
              <a:buNone/>
            </a:pPr>
            <a:r>
              <a:rPr lang="en-US" dirty="0"/>
              <a:t>New-</a:t>
            </a:r>
            <a:r>
              <a:rPr lang="en-US" dirty="0" err="1"/>
              <a:t>AzureRmStorageAccount</a:t>
            </a:r>
            <a:r>
              <a:rPr lang="en-US" dirty="0"/>
              <a:t> `</a:t>
            </a:r>
          </a:p>
          <a:p>
            <a:pPr marL="0" indent="0">
              <a:buNone/>
            </a:pPr>
            <a:r>
              <a:rPr lang="en-US" dirty="0"/>
              <a:t>-</a:t>
            </a:r>
            <a:r>
              <a:rPr lang="en-US" dirty="0" err="1"/>
              <a:t>ResourceGroupName</a:t>
            </a:r>
            <a:r>
              <a:rPr lang="en-US" dirty="0"/>
              <a:t> '</a:t>
            </a:r>
            <a:r>
              <a:rPr lang="en-US" dirty="0" err="1"/>
              <a:t>AzureExamples</a:t>
            </a:r>
            <a:r>
              <a:rPr lang="en-US" dirty="0"/>
              <a:t>' `</a:t>
            </a:r>
          </a:p>
          <a:p>
            <a:pPr marL="0" indent="0">
              <a:buNone/>
            </a:pPr>
            <a:r>
              <a:rPr lang="en-US" dirty="0"/>
              <a:t>-Name '</a:t>
            </a:r>
            <a:r>
              <a:rPr lang="en-US" dirty="0" err="1"/>
              <a:t>implementingazuredemo</a:t>
            </a:r>
            <a:r>
              <a:rPr lang="en-US" dirty="0"/>
              <a:t>' `</a:t>
            </a:r>
          </a:p>
          <a:p>
            <a:pPr marL="0" indent="0">
              <a:buNone/>
            </a:pPr>
            <a:r>
              <a:rPr lang="en-US" dirty="0"/>
              <a:t>-Location '</a:t>
            </a:r>
            <a:r>
              <a:rPr lang="en-US" dirty="0" err="1"/>
              <a:t>northeurope</a:t>
            </a:r>
            <a:r>
              <a:rPr lang="en-US" dirty="0"/>
              <a:t>' `</a:t>
            </a:r>
          </a:p>
          <a:p>
            <a:pPr marL="0" indent="0">
              <a:buNone/>
            </a:pPr>
            <a:r>
              <a:rPr lang="en-US" dirty="0"/>
              <a:t>-</a:t>
            </a:r>
            <a:r>
              <a:rPr lang="en-US" dirty="0" err="1"/>
              <a:t>SkuName</a:t>
            </a:r>
            <a:r>
              <a:rPr lang="en-US" dirty="0"/>
              <a:t> '</a:t>
            </a:r>
            <a:r>
              <a:rPr lang="en-US" dirty="0" err="1"/>
              <a:t>Standard_LRS</a:t>
            </a:r>
            <a:r>
              <a:rPr lang="en-US" dirty="0"/>
              <a:t>' `</a:t>
            </a:r>
          </a:p>
          <a:p>
            <a:pPr marL="0" indent="0">
              <a:buNone/>
            </a:pPr>
            <a:r>
              <a:rPr lang="en-US" dirty="0"/>
              <a:t>-Kind 'Storage'</a:t>
            </a:r>
          </a:p>
        </p:txBody>
      </p:sp>
      <p:sp>
        <p:nvSpPr>
          <p:cNvPr id="4" name="Text Placeholder 3">
            <a:extLst>
              <a:ext uri="{FF2B5EF4-FFF2-40B4-BE49-F238E27FC236}">
                <a16:creationId xmlns:a16="http://schemas.microsoft.com/office/drawing/2014/main" id="{76E87A13-FCBE-46F0-AF17-39F53EB67F6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13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id="{4B991C72-C4D0-4892-A765-818AB04F7C84}"/>
              </a:ext>
            </a:extLst>
          </p:cNvPr>
          <p:cNvSpPr>
            <a:spLocks noGrp="1"/>
          </p:cNvSpPr>
          <p:nvPr>
            <p:ph type="body" idx="1"/>
          </p:nvPr>
        </p:nvSpPr>
        <p:spPr/>
        <p:txBody>
          <a:bodyPr/>
          <a:lstStyle/>
          <a:p>
            <a:r>
              <a:rPr lang="en-US" dirty="0"/>
              <a:t>Streaming and storing cloud objects </a:t>
            </a:r>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p>
          <a:p>
            <a:r>
              <a:rPr lang="en-US" dirty="0"/>
              <a:t>Azure IaaS VM VHD is stored in a page blob</a:t>
            </a:r>
          </a:p>
        </p:txBody>
      </p:sp>
      <p:sp>
        <p:nvSpPr>
          <p:cNvPr id="4" name="Text Placeholder 3">
            <a:extLst>
              <a:ext uri="{FF2B5EF4-FFF2-40B4-BE49-F238E27FC236}">
                <a16:creationId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7502-94DE-4397-A824-DCF7B0154473}"/>
              </a:ext>
            </a:extLst>
          </p:cNvPr>
          <p:cNvSpPr>
            <a:spLocks noGrp="1"/>
          </p:cNvSpPr>
          <p:nvPr>
            <p:ph type="title"/>
          </p:nvPr>
        </p:nvSpPr>
        <p:spPr/>
        <p:txBody>
          <a:bodyPr/>
          <a:lstStyle/>
          <a:p>
            <a:r>
              <a:rPr lang="en-US" dirty="0"/>
              <a:t>Transporting Data </a:t>
            </a:r>
          </a:p>
        </p:txBody>
      </p:sp>
      <p:sp>
        <p:nvSpPr>
          <p:cNvPr id="3" name="Text Placeholder 2">
            <a:extLst>
              <a:ext uri="{FF2B5EF4-FFF2-40B4-BE49-F238E27FC236}">
                <a16:creationId xmlns:a16="http://schemas.microsoft.com/office/drawing/2014/main" id="{4BF3EECE-0199-4DE4-9DDE-8D6AC252B551}"/>
              </a:ext>
            </a:extLst>
          </p:cNvPr>
          <p:cNvSpPr>
            <a:spLocks noGrp="1"/>
          </p:cNvSpPr>
          <p:nvPr>
            <p:ph type="body" idx="1"/>
          </p:nvPr>
        </p:nvSpPr>
        <p:spPr/>
        <p:txBody>
          <a:bodyPr/>
          <a:lstStyle/>
          <a:p>
            <a:r>
              <a:rPr lang="en-US" dirty="0"/>
              <a:t>Not done over the wire </a:t>
            </a:r>
          </a:p>
          <a:p>
            <a:r>
              <a:rPr lang="en-US" dirty="0"/>
              <a:t>Ship a disk to Microsoft </a:t>
            </a:r>
          </a:p>
          <a:p>
            <a:endParaRPr lang="en-US" dirty="0"/>
          </a:p>
        </p:txBody>
      </p:sp>
      <p:sp>
        <p:nvSpPr>
          <p:cNvPr id="4" name="Text Placeholder 3">
            <a:extLst>
              <a:ext uri="{FF2B5EF4-FFF2-40B4-BE49-F238E27FC236}">
                <a16:creationId xmlns:a16="http://schemas.microsoft.com/office/drawing/2014/main" id="{C03FF024-2BD2-4148-9B0D-5007BD4D74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20497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245E-A0E7-4178-ACA9-BCDD863BAACE}"/>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EB160FE2-F6A1-4BC2-9279-BD84D76AEA61}"/>
              </a:ext>
            </a:extLst>
          </p:cNvPr>
          <p:cNvSpPr>
            <a:spLocks noGrp="1"/>
          </p:cNvSpPr>
          <p:nvPr>
            <p:ph type="body" idx="1"/>
          </p:nvPr>
        </p:nvSpPr>
        <p:spPr/>
        <p:txBody>
          <a:bodyPr/>
          <a:lstStyle/>
          <a:p>
            <a:pPr marL="0" indent="0">
              <a:buNone/>
            </a:pPr>
            <a:r>
              <a:rPr lang="en-US" sz="1800" dirty="0"/>
              <a:t>#Define required variables</a:t>
            </a:r>
          </a:p>
          <a:p>
            <a:pPr marL="0" indent="0">
              <a:buNone/>
            </a:pPr>
            <a:r>
              <a:rPr lang="en-US" sz="1800" dirty="0"/>
              <a:t>$</a:t>
            </a:r>
            <a:r>
              <a:rPr lang="en-US" sz="1800" dirty="0" err="1"/>
              <a:t>storageAccountName</a:t>
            </a:r>
            <a:r>
              <a:rPr lang="en-US" sz="1800" dirty="0"/>
              <a:t> = '</a:t>
            </a:r>
            <a:r>
              <a:rPr lang="en-US" sz="1800" dirty="0" err="1"/>
              <a:t>implementingazuredemo</a:t>
            </a:r>
            <a:r>
              <a:rPr lang="en-US" sz="1800" dirty="0"/>
              <a:t>'</a:t>
            </a:r>
          </a:p>
          <a:p>
            <a:pPr marL="0" indent="0">
              <a:buNone/>
            </a:pPr>
            <a:r>
              <a:rPr lang="en-US" sz="1800" dirty="0"/>
              <a:t>$</a:t>
            </a:r>
            <a:r>
              <a:rPr lang="en-US" sz="1800" dirty="0" err="1"/>
              <a:t>resourceGroupName</a:t>
            </a:r>
            <a:r>
              <a:rPr lang="en-US" sz="1800" dirty="0"/>
              <a:t> = '</a:t>
            </a:r>
            <a:r>
              <a:rPr lang="en-US" sz="1800" dirty="0" err="1"/>
              <a:t>AzureExamples</a:t>
            </a:r>
            <a:r>
              <a:rPr lang="en-US" sz="1800" dirty="0"/>
              <a:t>'</a:t>
            </a:r>
          </a:p>
          <a:p>
            <a:pPr marL="0" indent="0">
              <a:buNone/>
            </a:pPr>
            <a:r>
              <a:rPr lang="en-US" sz="1800" dirty="0"/>
              <a:t>#Get the Storage account keys</a:t>
            </a:r>
          </a:p>
          <a:p>
            <a:pPr marL="0" indent="0">
              <a:buNone/>
            </a:pPr>
            <a:r>
              <a:rPr lang="en-US" sz="1800" dirty="0"/>
              <a:t>$</a:t>
            </a:r>
            <a:r>
              <a:rPr lang="en-US" sz="1800" dirty="0" err="1"/>
              <a:t>storageAccountKey</a:t>
            </a:r>
            <a:r>
              <a:rPr lang="en-US" sz="1800" dirty="0"/>
              <a:t> = Get-</a:t>
            </a:r>
            <a:r>
              <a:rPr lang="en-US" sz="1800" dirty="0" err="1"/>
              <a:t>AzureRmStorageAccount</a:t>
            </a:r>
            <a:r>
              <a:rPr lang="en-US" sz="1800" dirty="0"/>
              <a:t> `</a:t>
            </a:r>
          </a:p>
          <a:p>
            <a:pPr marL="0" indent="0">
              <a:buNone/>
            </a:pPr>
            <a:r>
              <a:rPr lang="en-US" sz="1800" dirty="0"/>
              <a:t>-name $</a:t>
            </a:r>
            <a:r>
              <a:rPr lang="en-US" sz="1800" dirty="0" err="1"/>
              <a:t>storageAccountName</a:t>
            </a:r>
            <a:r>
              <a:rPr lang="en-US" sz="1800" dirty="0"/>
              <a:t> `</a:t>
            </a:r>
          </a:p>
          <a:p>
            <a:pPr marL="0" indent="0">
              <a:buNone/>
            </a:pPr>
            <a:r>
              <a:rPr lang="en-US" sz="1800" dirty="0"/>
              <a:t>-</a:t>
            </a:r>
            <a:r>
              <a:rPr lang="en-US" sz="1800" dirty="0" err="1"/>
              <a:t>ResourceGroupName</a:t>
            </a:r>
            <a:r>
              <a:rPr lang="en-US" sz="1800" dirty="0"/>
              <a:t> $</a:t>
            </a:r>
            <a:r>
              <a:rPr lang="en-US" sz="1800" dirty="0" err="1"/>
              <a:t>resourceGroupName</a:t>
            </a:r>
            <a:r>
              <a:rPr lang="en-US" sz="1800" dirty="0"/>
              <a:t> `</a:t>
            </a:r>
          </a:p>
          <a:p>
            <a:pPr marL="0" indent="0">
              <a:buNone/>
            </a:pPr>
            <a:r>
              <a:rPr lang="en-US" sz="1800" dirty="0"/>
              <a:t>| Get-</a:t>
            </a:r>
            <a:r>
              <a:rPr lang="en-US" sz="1800" dirty="0" err="1"/>
              <a:t>AzureRmStorageAccountKey</a:t>
            </a:r>
            <a:endParaRPr lang="en-US" sz="1800" dirty="0"/>
          </a:p>
          <a:p>
            <a:pPr marL="0" indent="0">
              <a:buNone/>
            </a:pPr>
            <a:r>
              <a:rPr lang="en-US" sz="1800" dirty="0"/>
              <a:t>#Create a Storage context for working with the Storage account</a:t>
            </a:r>
          </a:p>
          <a:p>
            <a:pPr marL="0" indent="0">
              <a:buNone/>
            </a:pPr>
            <a:r>
              <a:rPr lang="en-US" sz="1800" dirty="0"/>
              <a:t>$</a:t>
            </a:r>
            <a:r>
              <a:rPr lang="en-US" sz="1800" dirty="0" err="1"/>
              <a:t>storageContext</a:t>
            </a:r>
            <a:r>
              <a:rPr lang="en-US" sz="1800" dirty="0"/>
              <a:t> = New-</a:t>
            </a:r>
            <a:r>
              <a:rPr lang="en-US" sz="1800" dirty="0" err="1"/>
              <a:t>AzureStorageContext</a:t>
            </a:r>
            <a:r>
              <a:rPr lang="en-US" sz="1800" dirty="0"/>
              <a:t> -</a:t>
            </a:r>
            <a:r>
              <a:rPr lang="en-US" sz="1800" dirty="0" err="1"/>
              <a:t>StorageAccountName</a:t>
            </a:r>
            <a:endParaRPr lang="en-US" sz="1800" dirty="0"/>
          </a:p>
          <a:p>
            <a:pPr marL="0" indent="0">
              <a:buNone/>
            </a:pPr>
            <a:r>
              <a:rPr lang="en-US" sz="1800" dirty="0"/>
              <a:t>$</a:t>
            </a:r>
            <a:r>
              <a:rPr lang="en-US" sz="1800" dirty="0" err="1"/>
              <a:t>storageAccountName</a:t>
            </a:r>
            <a:r>
              <a:rPr lang="en-US" sz="1800" dirty="0"/>
              <a:t> -</a:t>
            </a:r>
            <a:r>
              <a:rPr lang="en-US" sz="1800" dirty="0" err="1"/>
              <a:t>StorageAccountKey</a:t>
            </a:r>
            <a:r>
              <a:rPr lang="en-US" sz="1800" dirty="0"/>
              <a:t> $</a:t>
            </a:r>
            <a:r>
              <a:rPr lang="en-US" sz="1800" dirty="0" err="1"/>
              <a:t>storageAccountKey</a:t>
            </a:r>
            <a:r>
              <a:rPr lang="en-US" sz="1800" dirty="0"/>
              <a:t>[0].Value</a:t>
            </a:r>
          </a:p>
          <a:p>
            <a:pPr marL="0" indent="0">
              <a:buNone/>
            </a:pPr>
            <a:r>
              <a:rPr lang="en-US" sz="1800" dirty="0"/>
              <a:t>#Create a blob container named </a:t>
            </a:r>
            <a:r>
              <a:rPr lang="en-US" sz="1800" dirty="0" err="1"/>
              <a:t>testcontainer</a:t>
            </a:r>
            <a:endParaRPr lang="en-US" sz="1800" dirty="0"/>
          </a:p>
          <a:p>
            <a:pPr marL="0" indent="0">
              <a:buNone/>
            </a:pPr>
            <a:r>
              <a:rPr lang="en-US" sz="1800" dirty="0"/>
              <a:t>New-</a:t>
            </a:r>
            <a:r>
              <a:rPr lang="en-US" sz="1800" dirty="0" err="1"/>
              <a:t>AzureStorageContainer</a:t>
            </a:r>
            <a:r>
              <a:rPr lang="en-US" sz="1800" dirty="0"/>
              <a:t> -Name '</a:t>
            </a:r>
            <a:r>
              <a:rPr lang="en-US" sz="1800" dirty="0" err="1"/>
              <a:t>testcontainer</a:t>
            </a:r>
            <a:r>
              <a:rPr lang="en-US" sz="1800" dirty="0"/>
              <a:t>' -Context $</a:t>
            </a:r>
            <a:r>
              <a:rPr lang="en-US" sz="1800" dirty="0" err="1"/>
              <a:t>storageContext</a:t>
            </a:r>
            <a:endParaRPr lang="en-US" sz="1800" dirty="0"/>
          </a:p>
          <a:p>
            <a:pPr marL="0" indent="0">
              <a:buNone/>
            </a:pPr>
            <a:r>
              <a:rPr lang="en-US" sz="1800" dirty="0"/>
              <a:t>#Verify the creation</a:t>
            </a:r>
          </a:p>
          <a:p>
            <a:pPr marL="0" indent="0">
              <a:buNone/>
            </a:pPr>
            <a:r>
              <a:rPr lang="en-US" sz="1800" dirty="0"/>
              <a:t>Get-</a:t>
            </a:r>
            <a:r>
              <a:rPr lang="en-US" sz="1800" dirty="0" err="1"/>
              <a:t>AzureStorageContainer</a:t>
            </a:r>
            <a:r>
              <a:rPr lang="en-US" sz="1800" dirty="0"/>
              <a:t> -Context $</a:t>
            </a:r>
            <a:r>
              <a:rPr lang="en-US" sz="1800" dirty="0" err="1"/>
              <a:t>storageContext</a:t>
            </a:r>
            <a:endParaRPr lang="en-US" sz="1800" dirty="0"/>
          </a:p>
        </p:txBody>
      </p:sp>
      <p:sp>
        <p:nvSpPr>
          <p:cNvPr id="4" name="Text Placeholder 3">
            <a:extLst>
              <a:ext uri="{FF2B5EF4-FFF2-40B4-BE49-F238E27FC236}">
                <a16:creationId xmlns:a16="http://schemas.microsoft.com/office/drawing/2014/main" id="{8A94D041-BCA2-4FF5-8E49-DC3DC192A2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26484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value has a type property name </a:t>
            </a:r>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9569-5A1D-4AE2-A1A1-6648FA719F9B}"/>
              </a:ext>
            </a:extLst>
          </p:cNvPr>
          <p:cNvSpPr>
            <a:spLocks noGrp="1"/>
          </p:cNvSpPr>
          <p:nvPr>
            <p:ph type="title"/>
          </p:nvPr>
        </p:nvSpPr>
        <p:spPr/>
        <p:txBody>
          <a:bodyPr/>
          <a:lstStyle/>
          <a:p>
            <a:r>
              <a:rPr lang="en-US" dirty="0"/>
              <a:t>Table Storage</a:t>
            </a:r>
          </a:p>
        </p:txBody>
      </p:sp>
      <p:pic>
        <p:nvPicPr>
          <p:cNvPr id="5" name="Picture 4">
            <a:extLst>
              <a:ext uri="{FF2B5EF4-FFF2-40B4-BE49-F238E27FC236}">
                <a16:creationId xmlns:a16="http://schemas.microsoft.com/office/drawing/2014/main" id="{92ED17F1-3546-4F03-A81B-0CEF6D193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88" y="966915"/>
            <a:ext cx="2933700"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B8B6E055-5308-46F7-B104-2F652089596E}"/>
              </a:ext>
            </a:extLst>
          </p:cNvPr>
          <p:cNvSpPr>
            <a:spLocks noGrp="1"/>
          </p:cNvSpPr>
          <p:nvPr>
            <p:ph type="body" idx="1"/>
          </p:nvPr>
        </p:nvSpPr>
        <p:spPr>
          <a:xfrm>
            <a:off x="3801979" y="966915"/>
            <a:ext cx="5080833" cy="5105402"/>
          </a:xfrm>
        </p:spPr>
        <p:txBody>
          <a:bodyPr/>
          <a:lstStyle/>
          <a:p>
            <a:pPr marL="0" indent="0">
              <a:buNone/>
            </a:pPr>
            <a:r>
              <a:rPr lang="en-US" sz="1200" dirty="0"/>
              <a:t>#Define required variables</a:t>
            </a:r>
          </a:p>
          <a:p>
            <a:pPr marL="0" indent="0">
              <a:buNone/>
            </a:pPr>
            <a:r>
              <a:rPr lang="en-US" sz="1200" dirty="0"/>
              <a:t>$</a:t>
            </a:r>
            <a:r>
              <a:rPr lang="en-US" sz="1200" dirty="0" err="1"/>
              <a:t>storageAccountName</a:t>
            </a:r>
            <a:r>
              <a:rPr lang="en-US" sz="1200" dirty="0"/>
              <a:t> = '</a:t>
            </a:r>
            <a:r>
              <a:rPr lang="en-US" sz="1200" dirty="0" err="1"/>
              <a:t>implementingazuredemo</a:t>
            </a:r>
            <a:r>
              <a:rPr lang="en-US" sz="1200" dirty="0"/>
              <a:t>'</a:t>
            </a:r>
          </a:p>
          <a:p>
            <a:pPr marL="0" indent="0">
              <a:buNone/>
            </a:pPr>
            <a:r>
              <a:rPr lang="en-US" sz="1200" dirty="0"/>
              <a:t>$</a:t>
            </a:r>
            <a:r>
              <a:rPr lang="en-US" sz="1200" dirty="0" err="1"/>
              <a:t>resourceGroupName</a:t>
            </a:r>
            <a:r>
              <a:rPr lang="en-US" sz="1200" dirty="0"/>
              <a:t> = '</a:t>
            </a:r>
            <a:r>
              <a:rPr lang="en-US" sz="1200" dirty="0" err="1"/>
              <a:t>AzureExamples</a:t>
            </a:r>
            <a:r>
              <a:rPr lang="en-US" sz="1200" dirty="0"/>
              <a:t>'</a:t>
            </a:r>
          </a:p>
          <a:p>
            <a:pPr marL="0" indent="0">
              <a:buNone/>
            </a:pPr>
            <a:r>
              <a:rPr lang="en-US" sz="1200" dirty="0"/>
              <a:t>$</a:t>
            </a:r>
            <a:r>
              <a:rPr lang="en-US" sz="1200" dirty="0" err="1"/>
              <a:t>tableName</a:t>
            </a:r>
            <a:r>
              <a:rPr lang="en-US" sz="1200" dirty="0"/>
              <a:t> = '</a:t>
            </a:r>
            <a:r>
              <a:rPr lang="en-US" sz="1200" dirty="0" err="1"/>
              <a:t>testtable</a:t>
            </a:r>
            <a:r>
              <a:rPr lang="en-US" sz="1200" dirty="0"/>
              <a:t>'</a:t>
            </a:r>
          </a:p>
          <a:p>
            <a:pPr marL="0" indent="0">
              <a:buNone/>
            </a:pPr>
            <a:r>
              <a:rPr lang="en-US" sz="1200" dirty="0"/>
              <a:t>#Get the storage account keys</a:t>
            </a:r>
          </a:p>
          <a:p>
            <a:pPr marL="0" indent="0">
              <a:buNone/>
            </a:pPr>
            <a:r>
              <a:rPr lang="en-US" sz="1200" dirty="0"/>
              <a:t>$</a:t>
            </a:r>
            <a:r>
              <a:rPr lang="en-US" sz="1200" dirty="0" err="1"/>
              <a:t>storageAccountKey</a:t>
            </a:r>
            <a:r>
              <a:rPr lang="en-US" sz="1200" dirty="0"/>
              <a:t> = Get-</a:t>
            </a:r>
            <a:r>
              <a:rPr lang="en-US" sz="1200" dirty="0" err="1"/>
              <a:t>AzureRmStorageAccount</a:t>
            </a:r>
            <a:r>
              <a:rPr lang="en-US" sz="1200" dirty="0"/>
              <a:t> `</a:t>
            </a:r>
          </a:p>
          <a:p>
            <a:pPr marL="0" indent="0">
              <a:buNone/>
            </a:pPr>
            <a:r>
              <a:rPr lang="en-US" sz="1200" dirty="0"/>
              <a:t>-name $</a:t>
            </a:r>
            <a:r>
              <a:rPr lang="en-US" sz="1200" dirty="0" err="1"/>
              <a:t>storageAccountName</a:t>
            </a:r>
            <a:r>
              <a:rPr lang="en-US" sz="1200" dirty="0"/>
              <a:t> `</a:t>
            </a:r>
          </a:p>
          <a:p>
            <a:pPr marL="0" indent="0">
              <a:buNone/>
            </a:pPr>
            <a:r>
              <a:rPr lang="en-US" sz="1200" dirty="0"/>
              <a:t>-</a:t>
            </a:r>
            <a:r>
              <a:rPr lang="en-US" sz="1200" dirty="0" err="1"/>
              <a:t>ResourceGroupName</a:t>
            </a:r>
            <a:r>
              <a:rPr lang="en-US" sz="1200" dirty="0"/>
              <a:t> $</a:t>
            </a:r>
            <a:r>
              <a:rPr lang="en-US" sz="1200" dirty="0" err="1"/>
              <a:t>resourceGroupName</a:t>
            </a:r>
            <a:r>
              <a:rPr lang="en-US" sz="1200" dirty="0"/>
              <a:t> `</a:t>
            </a:r>
          </a:p>
          <a:p>
            <a:pPr marL="0" indent="0">
              <a:buNone/>
            </a:pPr>
            <a:r>
              <a:rPr lang="en-US" sz="1200" dirty="0"/>
              <a:t>| Get-</a:t>
            </a:r>
            <a:r>
              <a:rPr lang="en-US" sz="1200" dirty="0" err="1"/>
              <a:t>AzureRmStorageAccountKey</a:t>
            </a:r>
            <a:endParaRPr lang="en-US" sz="1200" dirty="0"/>
          </a:p>
          <a:p>
            <a:pPr marL="0" indent="0">
              <a:buNone/>
            </a:pPr>
            <a:r>
              <a:rPr lang="en-US" sz="1200" dirty="0"/>
              <a:t>#Create a Storage Context for working with the storage account</a:t>
            </a:r>
          </a:p>
          <a:p>
            <a:pPr marL="0" indent="0">
              <a:buNone/>
            </a:pPr>
            <a:r>
              <a:rPr lang="en-US" sz="1200" dirty="0"/>
              <a:t>$</a:t>
            </a:r>
            <a:r>
              <a:rPr lang="en-US" sz="1200" dirty="0" err="1"/>
              <a:t>storageContext</a:t>
            </a:r>
            <a:r>
              <a:rPr lang="en-US" sz="1200" dirty="0"/>
              <a:t> = New-</a:t>
            </a:r>
            <a:r>
              <a:rPr lang="en-US" sz="1200" dirty="0" err="1"/>
              <a:t>AzureStorageContext</a:t>
            </a:r>
            <a:r>
              <a:rPr lang="en-US" sz="1200" dirty="0"/>
              <a:t> -</a:t>
            </a:r>
            <a:r>
              <a:rPr lang="en-US" sz="1200" dirty="0" err="1"/>
              <a:t>StorageAccountName</a:t>
            </a:r>
            <a:endParaRPr lang="en-US" sz="1200" dirty="0"/>
          </a:p>
          <a:p>
            <a:pPr marL="0" indent="0">
              <a:buNone/>
            </a:pPr>
            <a:r>
              <a:rPr lang="en-US" sz="1200" dirty="0"/>
              <a:t>$</a:t>
            </a:r>
            <a:r>
              <a:rPr lang="en-US" sz="1200" dirty="0" err="1"/>
              <a:t>storageAccountName</a:t>
            </a:r>
            <a:r>
              <a:rPr lang="en-US" sz="1200" dirty="0"/>
              <a:t> -</a:t>
            </a:r>
            <a:r>
              <a:rPr lang="en-US" sz="1200" dirty="0" err="1"/>
              <a:t>StorageAccountKey</a:t>
            </a:r>
            <a:endParaRPr lang="en-US" sz="1200" dirty="0"/>
          </a:p>
          <a:p>
            <a:pPr marL="0" indent="0">
              <a:buNone/>
            </a:pPr>
            <a:r>
              <a:rPr lang="en-US" sz="1200" dirty="0"/>
              <a:t>$</a:t>
            </a:r>
            <a:r>
              <a:rPr lang="en-US" sz="1200" dirty="0" err="1"/>
              <a:t>storageAccountKey</a:t>
            </a:r>
            <a:r>
              <a:rPr lang="en-US" sz="1200" dirty="0"/>
              <a:t>[0].Value</a:t>
            </a:r>
          </a:p>
          <a:p>
            <a:pPr marL="0" indent="0">
              <a:buNone/>
            </a:pPr>
            <a:r>
              <a:rPr lang="en-US" sz="1200" dirty="0"/>
              <a:t>#Create a table named </a:t>
            </a:r>
            <a:r>
              <a:rPr lang="en-US" sz="1200" dirty="0" err="1"/>
              <a:t>testtable</a:t>
            </a:r>
            <a:endParaRPr lang="en-US" sz="1200" dirty="0"/>
          </a:p>
          <a:p>
            <a:pPr marL="0" indent="0">
              <a:buNone/>
            </a:pPr>
            <a:r>
              <a:rPr lang="en-US" sz="1200" dirty="0"/>
              <a:t>New-</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1200" dirty="0"/>
          </a:p>
          <a:p>
            <a:pPr marL="0" indent="0">
              <a:buNone/>
            </a:pPr>
            <a:r>
              <a:rPr lang="en-US" sz="1200" dirty="0"/>
              <a:t>#Verify the creation</a:t>
            </a:r>
          </a:p>
          <a:p>
            <a:pPr marL="0" indent="0">
              <a:buNone/>
            </a:pPr>
            <a:r>
              <a:rPr lang="en-US" sz="1200" dirty="0"/>
              <a:t>Get-</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700" dirty="0"/>
          </a:p>
        </p:txBody>
      </p:sp>
      <p:sp>
        <p:nvSpPr>
          <p:cNvPr id="4" name="Text Placeholder 3">
            <a:extLst>
              <a:ext uri="{FF2B5EF4-FFF2-40B4-BE49-F238E27FC236}">
                <a16:creationId xmlns:a16="http://schemas.microsoft.com/office/drawing/2014/main" id="{CB8182D0-43AA-471A-8C12-83190390CC27}"/>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3318B61E-742E-44E7-8513-EBC2C94B9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88" y="2345693"/>
            <a:ext cx="3540791" cy="1352550"/>
          </a:xfrm>
          <a:prstGeom prst="rect">
            <a:avLst/>
          </a:prstGeom>
        </p:spPr>
      </p:pic>
    </p:spTree>
    <p:extLst>
      <p:ext uri="{BB962C8B-B14F-4D97-AF65-F5344CB8AC3E}">
        <p14:creationId xmlns:p14="http://schemas.microsoft.com/office/powerpoint/2010/main" val="92545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a:t>Highly scalable and flexible applications</a:t>
            </a:r>
          </a:p>
          <a:p>
            <a:r>
              <a:rPr lang="en-US" dirty="0"/>
              <a:t>Components are decoupled </a:t>
            </a:r>
          </a:p>
          <a:p>
            <a:r>
              <a:rPr lang="en-US" dirty="0"/>
              <a:t>Asynchronous communications method</a:t>
            </a:r>
          </a:p>
          <a:p>
            <a:r>
              <a:rPr lang="en-US" dirty="0"/>
              <a:t>Workflows can built </a:t>
            </a:r>
          </a:p>
          <a:p>
            <a:r>
              <a:rPr lang="en-US" dirty="0"/>
              <a:t>No 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dirty="0"/>
              <a:t>#Create a queue named </a:t>
            </a:r>
            <a:r>
              <a:rPr lang="en-US" sz="1100" dirty="0" err="1"/>
              <a:t>testqueue</a:t>
            </a:r>
            <a:endParaRPr lang="en-US" sz="1100"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8B71-8C62-499C-B336-D89F74600EB0}"/>
              </a:ext>
            </a:extLst>
          </p:cNvPr>
          <p:cNvSpPr>
            <a:spLocks noGrp="1"/>
          </p:cNvSpPr>
          <p:nvPr>
            <p:ph type="title"/>
          </p:nvPr>
        </p:nvSpPr>
        <p:spPr/>
        <p:txBody>
          <a:bodyPr/>
          <a:lstStyle/>
          <a:p>
            <a:r>
              <a:rPr lang="en-US" dirty="0"/>
              <a:t>Why Azure Files is Useful</a:t>
            </a:r>
          </a:p>
        </p:txBody>
      </p:sp>
      <p:sp>
        <p:nvSpPr>
          <p:cNvPr id="3" name="Text Placeholder 2">
            <a:extLst>
              <a:ext uri="{FF2B5EF4-FFF2-40B4-BE49-F238E27FC236}">
                <a16:creationId xmlns:a16="http://schemas.microsoft.com/office/drawing/2014/main" id="{EAC98BF9-50E8-4CAE-9DE1-B4E9352D6A57}"/>
              </a:ext>
            </a:extLst>
          </p:cNvPr>
          <p:cNvSpPr>
            <a:spLocks noGrp="1"/>
          </p:cNvSpPr>
          <p:nvPr>
            <p:ph type="body" idx="1"/>
          </p:nvPr>
        </p:nvSpPr>
        <p:spPr/>
        <p:txBody>
          <a:bodyPr/>
          <a:lstStyle/>
          <a:p>
            <a:r>
              <a:rPr lang="en-US" dirty="0"/>
              <a:t>Replace or supplement on-premise file servers </a:t>
            </a:r>
          </a:p>
          <a:p>
            <a:r>
              <a:rPr lang="en-US" dirty="0"/>
              <a:t>“Lift and Shift” applications </a:t>
            </a:r>
          </a:p>
          <a:p>
            <a:r>
              <a:rPr lang="en-US" dirty="0"/>
              <a:t>Simplify cloud deployment </a:t>
            </a:r>
          </a:p>
          <a:p>
            <a:endParaRPr lang="en-US" dirty="0"/>
          </a:p>
        </p:txBody>
      </p:sp>
      <p:sp>
        <p:nvSpPr>
          <p:cNvPr id="4" name="Text Placeholder 3">
            <a:extLst>
              <a:ext uri="{FF2B5EF4-FFF2-40B4-BE49-F238E27FC236}">
                <a16:creationId xmlns:a16="http://schemas.microsoft.com/office/drawing/2014/main" id="{E3548433-49DF-4C4B-9359-AC2BEDB479A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28249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75F-62E8-4808-AA94-6067E5C7E668}"/>
              </a:ext>
            </a:extLst>
          </p:cNvPr>
          <p:cNvSpPr>
            <a:spLocks noGrp="1"/>
          </p:cNvSpPr>
          <p:nvPr>
            <p:ph type="title"/>
          </p:nvPr>
        </p:nvSpPr>
        <p:spPr/>
        <p:txBody>
          <a:bodyPr/>
          <a:lstStyle/>
          <a:p>
            <a:r>
              <a:rPr lang="en-US" dirty="0"/>
              <a:t>Key benefits </a:t>
            </a:r>
          </a:p>
        </p:txBody>
      </p:sp>
      <p:sp>
        <p:nvSpPr>
          <p:cNvPr id="3" name="Text Placeholder 2">
            <a:extLst>
              <a:ext uri="{FF2B5EF4-FFF2-40B4-BE49-F238E27FC236}">
                <a16:creationId xmlns:a16="http://schemas.microsoft.com/office/drawing/2014/main" id="{DE62D46A-46BD-4DFC-B752-88CA20A196DA}"/>
              </a:ext>
            </a:extLst>
          </p:cNvPr>
          <p:cNvSpPr>
            <a:spLocks noGrp="1"/>
          </p:cNvSpPr>
          <p:nvPr>
            <p:ph type="body" idx="1"/>
          </p:nvPr>
        </p:nvSpPr>
        <p:spPr/>
        <p:txBody>
          <a:bodyPr/>
          <a:lstStyle/>
          <a:p>
            <a:r>
              <a:rPr lang="en-US" dirty="0"/>
              <a:t>Shared access </a:t>
            </a:r>
          </a:p>
          <a:p>
            <a:r>
              <a:rPr lang="en-US" dirty="0"/>
              <a:t>Fully managed </a:t>
            </a:r>
          </a:p>
          <a:p>
            <a:r>
              <a:rPr lang="en-US" dirty="0"/>
              <a:t>Scripting and tooling </a:t>
            </a:r>
          </a:p>
          <a:p>
            <a:r>
              <a:rPr lang="en-US" dirty="0"/>
              <a:t>Resiliency </a:t>
            </a:r>
          </a:p>
          <a:p>
            <a:r>
              <a:rPr lang="en-US" dirty="0"/>
              <a:t>Familiar programmability</a:t>
            </a:r>
          </a:p>
        </p:txBody>
      </p:sp>
      <p:sp>
        <p:nvSpPr>
          <p:cNvPr id="4" name="Text Placeholder 3">
            <a:extLst>
              <a:ext uri="{FF2B5EF4-FFF2-40B4-BE49-F238E27FC236}">
                <a16:creationId xmlns:a16="http://schemas.microsoft.com/office/drawing/2014/main" id="{326C2BFC-FF84-40D6-AA00-94F27D4FB41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7078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AEEA-435B-4471-B8CA-5719C5C729CE}"/>
              </a:ext>
            </a:extLst>
          </p:cNvPr>
          <p:cNvSpPr>
            <a:spLocks noGrp="1"/>
          </p:cNvSpPr>
          <p:nvPr>
            <p:ph type="title"/>
          </p:nvPr>
        </p:nvSpPr>
        <p:spPr/>
        <p:txBody>
          <a:bodyPr/>
          <a:lstStyle/>
          <a:p>
            <a:r>
              <a:rPr lang="en-US" dirty="0"/>
              <a:t>Scenarios </a:t>
            </a:r>
          </a:p>
        </p:txBody>
      </p:sp>
      <p:sp>
        <p:nvSpPr>
          <p:cNvPr id="4" name="Text Placeholder 3">
            <a:extLst>
              <a:ext uri="{FF2B5EF4-FFF2-40B4-BE49-F238E27FC236}">
                <a16:creationId xmlns:a16="http://schemas.microsoft.com/office/drawing/2014/main" id="{ED16F32C-456C-4F0F-8A62-4095FF53BF1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1CE897DF-9D3A-4317-A5AB-383DC218C057}"/>
              </a:ext>
            </a:extLst>
          </p:cNvPr>
          <p:cNvGraphicFramePr>
            <a:graphicFrameLocks noGrp="1"/>
          </p:cNvGraphicFramePr>
          <p:nvPr>
            <p:extLst>
              <p:ext uri="{D42A27DB-BD31-4B8C-83A1-F6EECF244321}">
                <p14:modId xmlns:p14="http://schemas.microsoft.com/office/powerpoint/2010/main" val="4194855628"/>
              </p:ext>
            </p:extLst>
          </p:nvPr>
        </p:nvGraphicFramePr>
        <p:xfrm>
          <a:off x="261187" y="1021215"/>
          <a:ext cx="8706348" cy="2418080"/>
        </p:xfrm>
        <a:graphic>
          <a:graphicData uri="http://schemas.openxmlformats.org/drawingml/2006/table">
            <a:tbl>
              <a:tblPr firstRow="1" bandRow="1">
                <a:tableStyleId>{00A15C55-8517-42AA-B614-E9B94910E393}</a:tableStyleId>
              </a:tblPr>
              <a:tblGrid>
                <a:gridCol w="1599697">
                  <a:extLst>
                    <a:ext uri="{9D8B030D-6E8A-4147-A177-3AD203B41FA5}">
                      <a16:colId xmlns:a16="http://schemas.microsoft.com/office/drawing/2014/main" val="1961543842"/>
                    </a:ext>
                  </a:extLst>
                </a:gridCol>
                <a:gridCol w="4204535">
                  <a:extLst>
                    <a:ext uri="{9D8B030D-6E8A-4147-A177-3AD203B41FA5}">
                      <a16:colId xmlns:a16="http://schemas.microsoft.com/office/drawing/2014/main" val="2500538068"/>
                    </a:ext>
                  </a:extLst>
                </a:gridCol>
                <a:gridCol w="2902116">
                  <a:extLst>
                    <a:ext uri="{9D8B030D-6E8A-4147-A177-3AD203B41FA5}">
                      <a16:colId xmlns:a16="http://schemas.microsoft.com/office/drawing/2014/main" val="2910518650"/>
                    </a:ext>
                  </a:extLst>
                </a:gridCol>
              </a:tblGrid>
              <a:tr h="370840">
                <a:tc>
                  <a:txBody>
                    <a:bodyPr/>
                    <a:lstStyle/>
                    <a:p>
                      <a:r>
                        <a:rPr lang="en-US" sz="1400" dirty="0">
                          <a:latin typeface="Segoe UI" panose="020B0502040204020203" pitchFamily="34" charset="0"/>
                          <a:cs typeface="Segoe UI" panose="020B0502040204020203" pitchFamily="34" charset="0"/>
                        </a:rPr>
                        <a:t>Feature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Description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When to Use</a:t>
                      </a:r>
                    </a:p>
                  </a:txBody>
                  <a:tcPr>
                    <a:cell3D prstMaterial="dkEdge">
                      <a:bevel/>
                      <a:lightRig rig="flood" dir="t"/>
                    </a:cell3D>
                  </a:tcPr>
                </a:tc>
                <a:extLst>
                  <a:ext uri="{0D108BD9-81ED-4DB2-BD59-A6C34878D82A}">
                    <a16:rowId xmlns:a16="http://schemas.microsoft.com/office/drawing/2014/main" val="2261057808"/>
                  </a:ext>
                </a:extLst>
              </a:tr>
              <a:tr h="370840">
                <a:tc>
                  <a:txBody>
                    <a:bodyPr/>
                    <a:lstStyle/>
                    <a:p>
                      <a:r>
                        <a:rPr lang="en-US" sz="1400" dirty="0">
                          <a:latin typeface="Segoe UI" panose="020B0502040204020203" pitchFamily="34" charset="0"/>
                          <a:cs typeface="Segoe UI" panose="020B0502040204020203" pitchFamily="34" charset="0"/>
                        </a:rPr>
                        <a:t>Azure Files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SMB interface, client libraries and a REST interface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a:t>
                      </a:r>
                    </a:p>
                  </a:txBody>
                  <a:tcPr>
                    <a:cell3D prstMaterial="dkEdge">
                      <a:bevel/>
                      <a:lightRig rig="flood" dir="t"/>
                    </a:cell3D>
                  </a:tcPr>
                </a:tc>
                <a:extLst>
                  <a:ext uri="{0D108BD9-81ED-4DB2-BD59-A6C34878D82A}">
                    <a16:rowId xmlns:a16="http://schemas.microsoft.com/office/drawing/2014/main" val="755549754"/>
                  </a:ext>
                </a:extLst>
              </a:tr>
              <a:tr h="370840">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REST interface , unstructured and massive scale </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Applications that support streaming and random access </a:t>
                      </a:r>
                    </a:p>
                  </a:txBody>
                  <a:tcPr>
                    <a:cell3D prstMaterial="dkEdge">
                      <a:bevel/>
                      <a:lightRig rig="flood" dir="t"/>
                    </a:cell3D>
                  </a:tcPr>
                </a:tc>
                <a:extLst>
                  <a:ext uri="{0D108BD9-81ED-4DB2-BD59-A6C34878D82A}">
                    <a16:rowId xmlns:a16="http://schemas.microsoft.com/office/drawing/2014/main" val="735811970"/>
                  </a:ext>
                </a:extLst>
              </a:tr>
              <a:tr h="370840">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and a REST interface , data is persistently stored and an attached virtual hard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 applications that use native file system APIs to read and write data to persistent disks – data is not accessed outside the disk attached</a:t>
                      </a:r>
                    </a:p>
                  </a:txBody>
                  <a:tcPr>
                    <a:cell3D prstMaterial="dkEdge">
                      <a:bevel/>
                      <a:lightRig rig="flood" dir="t"/>
                    </a:cell3D>
                  </a:tcPr>
                </a:tc>
                <a:extLst>
                  <a:ext uri="{0D108BD9-81ED-4DB2-BD59-A6C34878D82A}">
                    <a16:rowId xmlns:a16="http://schemas.microsoft.com/office/drawing/2014/main" val="1504204153"/>
                  </a:ext>
                </a:extLst>
              </a:tr>
            </a:tbl>
          </a:graphicData>
        </a:graphic>
      </p:graphicFrame>
    </p:spTree>
    <p:extLst>
      <p:ext uri="{BB962C8B-B14F-4D97-AF65-F5344CB8AC3E}">
        <p14:creationId xmlns:p14="http://schemas.microsoft.com/office/powerpoint/2010/main" val="2657954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BAC1-D3B8-4E9F-86F8-D93F1AE355B3}"/>
              </a:ext>
            </a:extLst>
          </p:cNvPr>
          <p:cNvSpPr>
            <a:spLocks noGrp="1"/>
          </p:cNvSpPr>
          <p:nvPr>
            <p:ph type="title"/>
          </p:nvPr>
        </p:nvSpPr>
        <p:spPr/>
        <p:txBody>
          <a:bodyPr/>
          <a:lstStyle/>
          <a:p>
            <a:r>
              <a:rPr lang="en-US" dirty="0"/>
              <a:t>Azure Files and Azure Blobs Comparison</a:t>
            </a:r>
          </a:p>
        </p:txBody>
      </p:sp>
      <p:sp>
        <p:nvSpPr>
          <p:cNvPr id="4" name="Text Placeholder 3">
            <a:extLst>
              <a:ext uri="{FF2B5EF4-FFF2-40B4-BE49-F238E27FC236}">
                <a16:creationId xmlns:a16="http://schemas.microsoft.com/office/drawing/2014/main" id="{41C1E4AF-163D-42FD-ACD0-EA793897EA80}"/>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471EAF5A-E791-4736-9CDA-905FF20BAE9D}"/>
              </a:ext>
            </a:extLst>
          </p:cNvPr>
          <p:cNvGraphicFramePr>
            <a:graphicFrameLocks noGrp="1"/>
          </p:cNvGraphicFramePr>
          <p:nvPr>
            <p:extLst>
              <p:ext uri="{D42A27DB-BD31-4B8C-83A1-F6EECF244321}">
                <p14:modId xmlns:p14="http://schemas.microsoft.com/office/powerpoint/2010/main" val="249685203"/>
              </p:ext>
            </p:extLst>
          </p:nvPr>
        </p:nvGraphicFramePr>
        <p:xfrm>
          <a:off x="261188" y="963863"/>
          <a:ext cx="8574837" cy="5384800"/>
        </p:xfrm>
        <a:graphic>
          <a:graphicData uri="http://schemas.openxmlformats.org/drawingml/2006/table">
            <a:tbl>
              <a:tblPr firstRow="1" bandRow="1">
                <a:tableStyleId>{00A15C55-8517-42AA-B614-E9B94910E393}</a:tableStyleId>
              </a:tblPr>
              <a:tblGrid>
                <a:gridCol w="1840328">
                  <a:extLst>
                    <a:ext uri="{9D8B030D-6E8A-4147-A177-3AD203B41FA5}">
                      <a16:colId xmlns:a16="http://schemas.microsoft.com/office/drawing/2014/main" val="2250469806"/>
                    </a:ext>
                  </a:extLst>
                </a:gridCol>
                <a:gridCol w="3176337">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00B05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Durability options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 RA-GRS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Accessibility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SMB 2.1, SMB 3.0</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Connectivity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p>
                      <a:r>
                        <a:rPr lang="en-US" sz="1400" dirty="0">
                          <a:latin typeface="Segoe UI" panose="020B0502040204020203" pitchFamily="34" charset="0"/>
                          <a:cs typeface="Segoe UI" panose="020B0502040204020203" pitchFamily="34" charset="0"/>
                        </a:rPr>
                        <a:t>SMB 2.1 – within Region</a:t>
                      </a:r>
                    </a:p>
                    <a:p>
                      <a:r>
                        <a:rPr lang="en-US" sz="1400" dirty="0">
                          <a:latin typeface="Segoe UI" panose="020B0502040204020203" pitchFamily="34" charset="0"/>
                          <a:cs typeface="Segoe UI" panose="020B0502040204020203" pitchFamily="34" charset="0"/>
                        </a:rPr>
                        <a:t>SMB 3.0 Worldwide</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err="1">
                          <a:latin typeface="Segoe UI" panose="020B0502040204020203" pitchFamily="34" charset="0"/>
                          <a:cs typeface="Segoe UI" panose="020B0502040204020203" pitchFamily="34" charset="0"/>
                        </a:rPr>
                        <a:t>EndPoints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2"/>
                        </a:rPr>
                        <a:t>http://myaccount.blob.core.windows.net/mycontainer/myblob</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3" action="ppaction://hlinkfile"/>
                        </a:rPr>
                        <a:t>\\myaccount.file.core.windows.net\myshare\myfile</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hlinkClick r:id="rId4"/>
                        </a:rPr>
                        <a:t>http://myaccount.file.core.windows.net/myshare/m</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Directories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Flat namespace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True directory objects</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Case Sensitivity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sensitive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insensitive, but case preserving</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500TB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shares</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 </a:t>
                      </a: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Object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200GB/block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1TB per file </a:t>
                      </a:r>
                    </a:p>
                  </a:txBody>
                  <a:tcPr>
                    <a:cell3D prstMaterial="dkEdge">
                      <a:bevel/>
                      <a:lightRig rig="flood" dir="t"/>
                    </a:cell3D>
                  </a:tcPr>
                </a:tc>
                <a:extLst>
                  <a:ext uri="{0D108BD9-81ED-4DB2-BD59-A6C34878D82A}">
                    <a16:rowId xmlns:a16="http://schemas.microsoft.com/office/drawing/2014/main" val="2873101355"/>
                  </a:ext>
                </a:extLst>
              </a:tr>
              <a:tr h="370840">
                <a:tc>
                  <a:txBody>
                    <a:bodyPr/>
                    <a:lstStyle/>
                    <a:p>
                      <a:r>
                        <a:rPr lang="en-US" sz="1400" dirty="0">
                          <a:latin typeface="Segoe UI" panose="020B0502040204020203" pitchFamily="34" charset="0"/>
                          <a:cs typeface="Segoe UI" panose="020B0502040204020203" pitchFamily="34" charset="0"/>
                        </a:rPr>
                        <a:t>Billed 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bytes written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file size </a:t>
                      </a:r>
                    </a:p>
                  </a:txBody>
                  <a:tcPr>
                    <a:cell3D prstMaterial="dkEdge">
                      <a:bevel/>
                      <a:lightRig rig="flood" dir="t"/>
                    </a:cell3D>
                  </a:tcPr>
                </a:tc>
                <a:extLst>
                  <a:ext uri="{0D108BD9-81ED-4DB2-BD59-A6C34878D82A}">
                    <a16:rowId xmlns:a16="http://schemas.microsoft.com/office/drawing/2014/main" val="1053469202"/>
                  </a:ext>
                </a:extLst>
              </a:tr>
              <a:tr h="370840">
                <a:tc>
                  <a:txBody>
                    <a:bodyPr/>
                    <a:lstStyle/>
                    <a:p>
                      <a:r>
                        <a:rPr lang="en-US" sz="1400" dirty="0">
                          <a:latin typeface="Segoe UI" panose="020B0502040204020203" pitchFamily="34" charset="0"/>
                          <a:cs typeface="Segoe UI" panose="020B0502040204020203" pitchFamily="34" charset="0"/>
                        </a:rPr>
                        <a:t>Client libraries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 </a:t>
                      </a:r>
                    </a:p>
                  </a:txBody>
                  <a:tcPr>
                    <a:cell3D prstMaterial="dkEdge">
                      <a:bevel/>
                      <a:lightRig rig="flood" dir="t"/>
                    </a:cell3D>
                  </a:tcPr>
                </a:tc>
                <a:extLst>
                  <a:ext uri="{0D108BD9-81ED-4DB2-BD59-A6C34878D82A}">
                    <a16:rowId xmlns:a16="http://schemas.microsoft.com/office/drawing/2014/main" val="178652145"/>
                  </a:ext>
                </a:extLst>
              </a:tr>
            </a:tbl>
          </a:graphicData>
        </a:graphic>
      </p:graphicFrame>
    </p:spTree>
    <p:extLst>
      <p:ext uri="{BB962C8B-B14F-4D97-AF65-F5344CB8AC3E}">
        <p14:creationId xmlns:p14="http://schemas.microsoft.com/office/powerpoint/2010/main" val="3263110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2D05-0823-4B5A-A7E2-48E9B340C3B0}"/>
              </a:ext>
            </a:extLst>
          </p:cNvPr>
          <p:cNvSpPr>
            <a:spLocks noGrp="1"/>
          </p:cNvSpPr>
          <p:nvPr>
            <p:ph type="title"/>
          </p:nvPr>
        </p:nvSpPr>
        <p:spPr/>
        <p:txBody>
          <a:bodyPr/>
          <a:lstStyle/>
          <a:p>
            <a:r>
              <a:rPr lang="en-US" dirty="0"/>
              <a:t>Azure Files and Azure Disks Comparison</a:t>
            </a:r>
          </a:p>
        </p:txBody>
      </p:sp>
      <p:sp>
        <p:nvSpPr>
          <p:cNvPr id="4" name="Text Placeholder 3">
            <a:extLst>
              <a:ext uri="{FF2B5EF4-FFF2-40B4-BE49-F238E27FC236}">
                <a16:creationId xmlns:a16="http://schemas.microsoft.com/office/drawing/2014/main" id="{02518AF6-FEB2-442F-AF7C-FB1455953B7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841ADF58-EE88-487D-BC9B-A537512E899F}"/>
              </a:ext>
            </a:extLst>
          </p:cNvPr>
          <p:cNvGraphicFramePr>
            <a:graphicFrameLocks noGrp="1"/>
          </p:cNvGraphicFramePr>
          <p:nvPr>
            <p:extLst>
              <p:ext uri="{D42A27DB-BD31-4B8C-83A1-F6EECF244321}">
                <p14:modId xmlns:p14="http://schemas.microsoft.com/office/powerpoint/2010/main" val="1203926299"/>
              </p:ext>
            </p:extLst>
          </p:nvPr>
        </p:nvGraphicFramePr>
        <p:xfrm>
          <a:off x="261188" y="963863"/>
          <a:ext cx="8574837" cy="3855720"/>
        </p:xfrm>
        <a:graphic>
          <a:graphicData uri="http://schemas.openxmlformats.org/drawingml/2006/table">
            <a:tbl>
              <a:tblPr firstRow="1" bandRow="1">
                <a:tableStyleId>{00A15C55-8517-42AA-B614-E9B94910E393}</a:tableStyleId>
              </a:tblPr>
              <a:tblGrid>
                <a:gridCol w="2193254">
                  <a:extLst>
                    <a:ext uri="{9D8B030D-6E8A-4147-A177-3AD203B41FA5}">
                      <a16:colId xmlns:a16="http://schemas.microsoft.com/office/drawing/2014/main" val="2250469806"/>
                    </a:ext>
                  </a:extLst>
                </a:gridCol>
                <a:gridCol w="2823411">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7030A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Scope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Exclusive to a single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Shared access across multiple VMs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Snapshot and Copy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Yes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No</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Configuration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at startup of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after the VM has started</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a:latin typeface="Segoe UI" panose="020B0502040204020203" pitchFamily="34" charset="0"/>
                          <a:cs typeface="Segoe UI" panose="020B0502040204020203" pitchFamily="34" charset="0"/>
                        </a:rPr>
                        <a:t>Authentication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Built-in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Set up with net use </a:t>
                      </a: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Cleanup</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Automatic</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Manual</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Access using REST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within VHD cannot be accessed</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stored in share can be accessed</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Max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4TB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 and 1TB file within share </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Max 8KB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1000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a:t>
                      </a:r>
                    </a:p>
                  </a:txBody>
                  <a:tcPr>
                    <a:cell3D prstMaterial="dkEdge">
                      <a:bevel/>
                      <a:lightRig rig="flood" dir="t"/>
                    </a:cell3D>
                  </a:tcPr>
                </a:tc>
                <a:extLst>
                  <a:ext uri="{0D108BD9-81ED-4DB2-BD59-A6C34878D82A}">
                    <a16:rowId xmlns:a16="http://schemas.microsoft.com/office/drawing/2014/main" val="2873101355"/>
                  </a:ext>
                </a:extLst>
              </a:tr>
            </a:tbl>
          </a:graphicData>
        </a:graphic>
      </p:graphicFrame>
    </p:spTree>
    <p:extLst>
      <p:ext uri="{BB962C8B-B14F-4D97-AF65-F5344CB8AC3E}">
        <p14:creationId xmlns:p14="http://schemas.microsoft.com/office/powerpoint/2010/main" val="365138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ABBD-9D1B-49DD-9F43-2BF5998AA11C}"/>
              </a:ext>
            </a:extLst>
          </p:cNvPr>
          <p:cNvSpPr>
            <a:spLocks noGrp="1"/>
          </p:cNvSpPr>
          <p:nvPr>
            <p:ph type="title"/>
          </p:nvPr>
        </p:nvSpPr>
        <p:spPr/>
        <p:txBody>
          <a:bodyPr/>
          <a:lstStyle/>
          <a:p>
            <a:r>
              <a:rPr lang="en-US" dirty="0"/>
              <a:t>Create File Share using PowerShell </a:t>
            </a:r>
          </a:p>
        </p:txBody>
      </p:sp>
      <p:sp>
        <p:nvSpPr>
          <p:cNvPr id="3" name="Text Placeholder 2">
            <a:extLst>
              <a:ext uri="{FF2B5EF4-FFF2-40B4-BE49-F238E27FC236}">
                <a16:creationId xmlns:a16="http://schemas.microsoft.com/office/drawing/2014/main" id="{E691BDBA-D63E-44BA-AB6F-8CD06B7A5C7E}"/>
              </a:ext>
            </a:extLst>
          </p:cNvPr>
          <p:cNvSpPr>
            <a:spLocks noGrp="1"/>
          </p:cNvSpPr>
          <p:nvPr>
            <p:ph type="body" idx="1"/>
          </p:nvPr>
        </p:nvSpPr>
        <p:spPr/>
        <p:txBody>
          <a:bodyPr/>
          <a:lstStyle/>
          <a:p>
            <a:pPr marL="0" indent="0">
              <a:buNone/>
            </a:pPr>
            <a:r>
              <a:rPr lang="en-US" sz="2400" dirty="0"/>
              <a:t>$</a:t>
            </a:r>
            <a:r>
              <a:rPr lang="en-US" sz="2400" dirty="0" err="1"/>
              <a:t>storageContext</a:t>
            </a:r>
            <a:r>
              <a:rPr lang="en-US" sz="2400" dirty="0"/>
              <a:t> = New-</a:t>
            </a:r>
            <a:r>
              <a:rPr lang="en-US" sz="2400" dirty="0" err="1"/>
              <a:t>AzureStorageContext</a:t>
            </a:r>
            <a:r>
              <a:rPr lang="en-US" sz="2400" dirty="0"/>
              <a:t> &lt;storage acct-name&gt;&lt;storage acct key&gt;</a:t>
            </a:r>
          </a:p>
          <a:p>
            <a:pPr marL="0" indent="0">
              <a:buNone/>
            </a:pPr>
            <a:endParaRPr lang="en-US" sz="2400" dirty="0"/>
          </a:p>
          <a:p>
            <a:pPr marL="0" indent="0">
              <a:buNone/>
            </a:pPr>
            <a:r>
              <a:rPr lang="en-US" sz="2400" dirty="0"/>
              <a:t>$share = New-</a:t>
            </a:r>
            <a:r>
              <a:rPr lang="en-US" sz="2400" dirty="0" err="1"/>
              <a:t>AzureStorageShare</a:t>
            </a:r>
            <a:r>
              <a:rPr lang="en-US" sz="2400" dirty="0"/>
              <a:t> data –Context $</a:t>
            </a:r>
            <a:r>
              <a:rPr lang="en-US" sz="2400" dirty="0" err="1"/>
              <a:t>storageContext</a:t>
            </a:r>
            <a:endParaRPr lang="en-US" sz="2400" dirty="0"/>
          </a:p>
        </p:txBody>
      </p:sp>
      <p:sp>
        <p:nvSpPr>
          <p:cNvPr id="4" name="Text Placeholder 3">
            <a:extLst>
              <a:ext uri="{FF2B5EF4-FFF2-40B4-BE49-F238E27FC236}">
                <a16:creationId xmlns:a16="http://schemas.microsoft.com/office/drawing/2014/main" id="{7EC7963C-75B0-4875-BD41-BC9B22E9262A}"/>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FAB8C12C-18A6-4F7E-8365-CD32808C73E5}"/>
              </a:ext>
            </a:extLst>
          </p:cNvPr>
          <p:cNvSpPr txBox="1"/>
          <p:nvPr/>
        </p:nvSpPr>
        <p:spPr>
          <a:xfrm>
            <a:off x="1058779" y="4090737"/>
            <a:ext cx="6657474" cy="369332"/>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latin typeface="Segoe UI" panose="020B0502040204020203" pitchFamily="34" charset="0"/>
                <a:cs typeface="Segoe UI" panose="020B0502040204020203" pitchFamily="34" charset="0"/>
              </a:rPr>
              <a:t>The name of the share must be in all lowercase.</a:t>
            </a:r>
          </a:p>
        </p:txBody>
      </p:sp>
    </p:spTree>
    <p:extLst>
      <p:ext uri="{BB962C8B-B14F-4D97-AF65-F5344CB8AC3E}">
        <p14:creationId xmlns:p14="http://schemas.microsoft.com/office/powerpoint/2010/main" val="741616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484F-6898-4963-9059-58AF41636D1B}"/>
              </a:ext>
            </a:extLst>
          </p:cNvPr>
          <p:cNvSpPr>
            <a:spLocks noGrp="1"/>
          </p:cNvSpPr>
          <p:nvPr>
            <p:ph type="title"/>
          </p:nvPr>
        </p:nvSpPr>
        <p:spPr/>
        <p:txBody>
          <a:bodyPr/>
          <a:lstStyle/>
          <a:p>
            <a:r>
              <a:rPr lang="en-US" dirty="0"/>
              <a:t>Create Azure File Share using Azure CLI</a:t>
            </a:r>
          </a:p>
        </p:txBody>
      </p:sp>
      <p:sp>
        <p:nvSpPr>
          <p:cNvPr id="3" name="Text Placeholder 2">
            <a:extLst>
              <a:ext uri="{FF2B5EF4-FFF2-40B4-BE49-F238E27FC236}">
                <a16:creationId xmlns:a16="http://schemas.microsoft.com/office/drawing/2014/main" id="{7618D35B-F151-4707-AA4E-171A8EF6F842}"/>
              </a:ext>
            </a:extLst>
          </p:cNvPr>
          <p:cNvSpPr>
            <a:spLocks noGrp="1"/>
          </p:cNvSpPr>
          <p:nvPr>
            <p:ph type="body" idx="1"/>
          </p:nvPr>
        </p:nvSpPr>
        <p:spPr/>
        <p:txBody>
          <a:bodyPr/>
          <a:lstStyle/>
          <a:p>
            <a:pPr marL="0" indent="0">
              <a:buNone/>
            </a:pPr>
            <a:r>
              <a:rPr lang="en-US" sz="2000" dirty="0" err="1"/>
              <a:t>current_env_conn_string</a:t>
            </a:r>
            <a:r>
              <a:rPr lang="en-US" sz="2000" dirty="0"/>
              <a:t> = $(</a:t>
            </a:r>
            <a:r>
              <a:rPr lang="en-US" sz="2000" dirty="0" err="1"/>
              <a:t>az</a:t>
            </a:r>
            <a:r>
              <a:rPr lang="en-US" sz="2000" dirty="0"/>
              <a:t> storage account show-connection-string -n &lt;storage-account&gt; -g &lt;resource-group&gt; --query '</a:t>
            </a:r>
            <a:r>
              <a:rPr lang="en-US" sz="2000" dirty="0" err="1"/>
              <a:t>connectionString</a:t>
            </a:r>
            <a:r>
              <a:rPr lang="en-US" sz="2000" dirty="0"/>
              <a:t>' -o </a:t>
            </a:r>
            <a:r>
              <a:rPr lang="en-US" sz="2000" dirty="0" err="1"/>
              <a:t>tsv</a:t>
            </a:r>
            <a:r>
              <a:rPr lang="en-US" sz="2000" dirty="0"/>
              <a:t>)</a:t>
            </a:r>
          </a:p>
          <a:p>
            <a:pPr marL="0" indent="0">
              <a:buNone/>
            </a:pPr>
            <a:endParaRPr lang="en-US" sz="2000" dirty="0"/>
          </a:p>
          <a:p>
            <a:pPr marL="0" indent="0">
              <a:buNone/>
            </a:pPr>
            <a:r>
              <a:rPr lang="en-US" sz="2000" dirty="0"/>
              <a:t> if [[ $</a:t>
            </a:r>
            <a:r>
              <a:rPr lang="en-US" sz="2000" dirty="0" err="1"/>
              <a:t>current_env_conn_string</a:t>
            </a:r>
            <a:r>
              <a:rPr lang="en-US" sz="2000" dirty="0"/>
              <a:t> == "" ]]; then  </a:t>
            </a:r>
          </a:p>
          <a:p>
            <a:pPr marL="0" indent="0">
              <a:buNone/>
            </a:pPr>
            <a:r>
              <a:rPr lang="en-US" sz="2000" dirty="0"/>
              <a:t>     echo "Couldn't retrieve the connection string."</a:t>
            </a:r>
          </a:p>
          <a:p>
            <a:pPr marL="0" indent="0">
              <a:buNone/>
            </a:pPr>
            <a:r>
              <a:rPr lang="en-US" sz="2000" dirty="0"/>
              <a:t> fi</a:t>
            </a:r>
          </a:p>
          <a:p>
            <a:pPr marL="0" indent="0">
              <a:buNone/>
            </a:pPr>
            <a:endParaRPr lang="en-US" sz="2000" dirty="0"/>
          </a:p>
          <a:p>
            <a:pPr marL="0" indent="0">
              <a:buNone/>
            </a:pPr>
            <a:r>
              <a:rPr lang="en-US" sz="2000" dirty="0" err="1"/>
              <a:t>az</a:t>
            </a:r>
            <a:r>
              <a:rPr lang="en-US" sz="2000" dirty="0"/>
              <a:t> storage share create –name data –quota 2048 –connections-string $</a:t>
            </a:r>
            <a:r>
              <a:rPr lang="en-US" sz="2000" dirty="0" err="1"/>
              <a:t>current_env_conn_string</a:t>
            </a:r>
            <a:r>
              <a:rPr lang="en-US" sz="2000" dirty="0"/>
              <a:t> 1 &gt; /dev/null</a:t>
            </a:r>
          </a:p>
        </p:txBody>
      </p:sp>
      <p:sp>
        <p:nvSpPr>
          <p:cNvPr id="4" name="Text Placeholder 3">
            <a:extLst>
              <a:ext uri="{FF2B5EF4-FFF2-40B4-BE49-F238E27FC236}">
                <a16:creationId xmlns:a16="http://schemas.microsoft.com/office/drawing/2014/main" id="{E00E92DB-C4E4-4573-BF86-FD3F0139476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3200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CF78-117A-452B-828F-E9D6F5C938FA}"/>
              </a:ext>
            </a:extLst>
          </p:cNvPr>
          <p:cNvSpPr>
            <a:spLocks noGrp="1"/>
          </p:cNvSpPr>
          <p:nvPr>
            <p:ph type="title"/>
          </p:nvPr>
        </p:nvSpPr>
        <p:spPr/>
        <p:txBody>
          <a:bodyPr/>
          <a:lstStyle/>
          <a:p>
            <a:r>
              <a:rPr lang="en-US" dirty="0"/>
              <a:t>CDN</a:t>
            </a:r>
          </a:p>
        </p:txBody>
      </p:sp>
      <p:sp>
        <p:nvSpPr>
          <p:cNvPr id="4" name="Text Placeholder 3">
            <a:extLst>
              <a:ext uri="{FF2B5EF4-FFF2-40B4-BE49-F238E27FC236}">
                <a16:creationId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738312"/>
            <a:ext cx="6096000" cy="3381375"/>
          </a:xfrm>
          <a:prstGeom prst="rect">
            <a:avLst/>
          </a:prstGeom>
        </p:spPr>
      </p:pic>
    </p:spTree>
    <p:extLst>
      <p:ext uri="{BB962C8B-B14F-4D97-AF65-F5344CB8AC3E}">
        <p14:creationId xmlns:p14="http://schemas.microsoft.com/office/powerpoint/2010/main" val="958396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id="{6FA5A453-E624-453F-B960-377865E028BD}"/>
              </a:ext>
            </a:extLst>
          </p:cNvPr>
          <p:cNvSpPr>
            <a:spLocks noGrp="1"/>
          </p:cNvSpPr>
          <p:nvPr>
            <p:ph type="body" idx="1"/>
          </p:nvPr>
        </p:nvSpPr>
        <p:spPr>
          <a:xfrm>
            <a:off x="261188" y="1019595"/>
            <a:ext cx="5815866" cy="4234575"/>
          </a:xfrm>
        </p:spPr>
        <p:txBody>
          <a:bodyPr/>
          <a:lstStyle/>
          <a:p>
            <a:r>
              <a:rPr lang="en-US" sz="2000" dirty="0"/>
              <a:t>Each profile can contain one or more CDN endpoints.</a:t>
            </a:r>
          </a:p>
          <a:p>
            <a:endParaRPr lang="en-US" sz="2000" dirty="0"/>
          </a:p>
        </p:txBody>
      </p:sp>
      <p:sp>
        <p:nvSpPr>
          <p:cNvPr id="4" name="Text Placeholder 3">
            <a:extLst>
              <a:ext uri="{FF2B5EF4-FFF2-40B4-BE49-F238E27FC236}">
                <a16:creationId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2F6B-4406-43CD-BBC6-7B4C4D1A6171}"/>
              </a:ext>
            </a:extLst>
          </p:cNvPr>
          <p:cNvSpPr>
            <a:spLocks noGrp="1"/>
          </p:cNvSpPr>
          <p:nvPr>
            <p:ph type="title"/>
          </p:nvPr>
        </p:nvSpPr>
        <p:spPr/>
        <p:txBody>
          <a:bodyPr/>
          <a:lstStyle/>
          <a:p>
            <a:r>
              <a:rPr lang="en-US" dirty="0" err="1"/>
              <a:t>StorSimple</a:t>
            </a:r>
            <a:endParaRPr lang="en-US" dirty="0"/>
          </a:p>
        </p:txBody>
      </p:sp>
      <p:sp>
        <p:nvSpPr>
          <p:cNvPr id="4" name="Text Placeholder 3">
            <a:extLst>
              <a:ext uri="{FF2B5EF4-FFF2-40B4-BE49-F238E27FC236}">
                <a16:creationId xmlns:a16="http://schemas.microsoft.com/office/drawing/2014/main" id="{36383539-BBE0-46DF-88C2-3C225B014408}"/>
              </a:ext>
            </a:extLst>
          </p:cNvPr>
          <p:cNvSpPr>
            <a:spLocks noGrp="1"/>
          </p:cNvSpPr>
          <p:nvPr>
            <p:ph type="body" sz="quarter" idx="10"/>
          </p:nvPr>
        </p:nvSpPr>
        <p:spPr/>
        <p:txBody>
          <a:bodyPr/>
          <a:lstStyle/>
          <a:p>
            <a:endParaRPr lang="en-US"/>
          </a:p>
        </p:txBody>
      </p:sp>
      <p:pic>
        <p:nvPicPr>
          <p:cNvPr id="8" name="Picture 7">
            <a:extLst>
              <a:ext uri="{FF2B5EF4-FFF2-40B4-BE49-F238E27FC236}">
                <a16:creationId xmlns:a16="http://schemas.microsoft.com/office/drawing/2014/main" id="{C3EC84BC-FA1E-4120-9FDF-30EA33E52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255" y="1650775"/>
            <a:ext cx="7284470" cy="3129829"/>
          </a:xfrm>
          <a:prstGeom prst="rect">
            <a:avLst/>
          </a:prstGeom>
        </p:spPr>
      </p:pic>
    </p:spTree>
    <p:extLst>
      <p:ext uri="{BB962C8B-B14F-4D97-AF65-F5344CB8AC3E}">
        <p14:creationId xmlns:p14="http://schemas.microsoft.com/office/powerpoint/2010/main" val="1959207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id="{5C407592-27A8-4419-BCCA-7A8F3E71409F}"/>
              </a:ext>
            </a:extLst>
          </p:cNvPr>
          <p:cNvSpPr>
            <a:spLocks noGrp="1"/>
          </p:cNvSpPr>
          <p:nvPr>
            <p:ph type="subTitle" sz="quarter" idx="1"/>
          </p:nvPr>
        </p:nvSpPr>
        <p:spPr/>
        <p:txBody>
          <a:bodyPr/>
          <a:lstStyle/>
          <a:p>
            <a:r>
              <a:rPr lang="en-US" dirty="0"/>
              <a:t>Create and manage shared access signatures; use stored access policies; regenerate keys; encrypt keys by using Azure Key Vault integration </a:t>
            </a:r>
          </a:p>
        </p:txBody>
      </p:sp>
      <p:sp>
        <p:nvSpPr>
          <p:cNvPr id="7" name="Text Placeholder 6">
            <a:extLst>
              <a:ext uri="{FF2B5EF4-FFF2-40B4-BE49-F238E27FC236}">
                <a16:creationId xmlns:a16="http://schemas.microsoft.com/office/drawing/2014/main" id="{6A7AAE66-DFBD-48F8-91D2-C28D9BAAEC5D}"/>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id="{2E92CAC0-C8BB-4BA7-9D3E-9E4804CF7E9B}"/>
              </a:ext>
            </a:extLst>
          </p:cNvPr>
          <p:cNvSpPr>
            <a:spLocks noGrp="1"/>
          </p:cNvSpPr>
          <p:nvPr>
            <p:ph type="body" idx="1"/>
          </p:nvPr>
        </p:nvSpPr>
        <p:spPr/>
        <p:txBody>
          <a:bodyPr numCol="2"/>
          <a:lstStyle/>
          <a:p>
            <a:r>
              <a:rPr lang="en-US" dirty="0"/>
              <a:t>Affect storage account </a:t>
            </a:r>
          </a:p>
          <a:p>
            <a:r>
              <a:rPr lang="en-US" dirty="0"/>
              <a:t>Resource Group </a:t>
            </a:r>
          </a:p>
          <a:p>
            <a:pPr lvl="1"/>
            <a:r>
              <a:rPr lang="en-US" dirty="0"/>
              <a:t>Azure Active Directory used to control access </a:t>
            </a:r>
          </a:p>
          <a:p>
            <a:r>
              <a:rPr lang="en-US" dirty="0"/>
              <a:t>RBAC </a:t>
            </a:r>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a:t>User setup in Azure AD </a:t>
            </a:r>
          </a:p>
          <a:p>
            <a:r>
              <a:rPr lang="en-US" dirty="0"/>
              <a:t>Report </a:t>
            </a:r>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A83C-8DB9-46C7-B74D-813FC09A31A8}"/>
              </a:ext>
            </a:extLst>
          </p:cNvPr>
          <p:cNvSpPr>
            <a:spLocks noGrp="1"/>
          </p:cNvSpPr>
          <p:nvPr>
            <p:ph type="title"/>
          </p:nvPr>
        </p:nvSpPr>
        <p:spPr/>
        <p:txBody>
          <a:bodyPr/>
          <a:lstStyle/>
          <a:p>
            <a:r>
              <a:rPr lang="en-US" dirty="0"/>
              <a:t>Managing Storage Account Keys</a:t>
            </a:r>
          </a:p>
        </p:txBody>
      </p:sp>
      <p:sp>
        <p:nvSpPr>
          <p:cNvPr id="3" name="Text Placeholder 2">
            <a:extLst>
              <a:ext uri="{FF2B5EF4-FFF2-40B4-BE49-F238E27FC236}">
                <a16:creationId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2</a:t>
            </a:r>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236-6022-4CB1-A172-EF11D1053C59}"/>
              </a:ext>
            </a:extLst>
          </p:cNvPr>
          <p:cNvSpPr>
            <a:spLocks noGrp="1"/>
          </p:cNvSpPr>
          <p:nvPr>
            <p:ph type="title"/>
          </p:nvPr>
        </p:nvSpPr>
        <p:spPr/>
        <p:txBody>
          <a:bodyPr/>
          <a:lstStyle/>
          <a:p>
            <a:r>
              <a:rPr lang="en-US" dirty="0"/>
              <a:t>Key regeneration plan </a:t>
            </a:r>
          </a:p>
        </p:txBody>
      </p:sp>
      <p:sp>
        <p:nvSpPr>
          <p:cNvPr id="3" name="Text Placeholder 2">
            <a:extLst>
              <a:ext uri="{FF2B5EF4-FFF2-40B4-BE49-F238E27FC236}">
                <a16:creationId xmlns:a16="http://schemas.microsoft.com/office/drawing/2014/main" id="{E3E12423-0067-4527-9120-F3A14EB83666}"/>
              </a:ext>
            </a:extLst>
          </p:cNvPr>
          <p:cNvSpPr>
            <a:spLocks noGrp="1"/>
          </p:cNvSpPr>
          <p:nvPr>
            <p:ph type="body" idx="1"/>
          </p:nvPr>
        </p:nvSpPr>
        <p:spPr/>
        <p:txBody>
          <a:bodyPr/>
          <a:lstStyle/>
          <a:p>
            <a:r>
              <a:rPr lang="en-US" dirty="0"/>
              <a:t>List applications </a:t>
            </a:r>
          </a:p>
          <a:p>
            <a:r>
              <a:rPr lang="en-US" dirty="0"/>
              <a:t>10 minutes to Sync </a:t>
            </a:r>
          </a:p>
          <a:p>
            <a:r>
              <a:rPr lang="en-US" dirty="0"/>
              <a:t>Process </a:t>
            </a:r>
          </a:p>
          <a:p>
            <a:pPr marL="746125" lvl="1" indent="-457200">
              <a:buFont typeface="+mj-lt"/>
              <a:buAutoNum type="arabicPeriod"/>
            </a:pPr>
            <a:r>
              <a:rPr lang="en-US" dirty="0"/>
              <a:t>Regenerate Key 2 </a:t>
            </a:r>
          </a:p>
          <a:p>
            <a:pPr marL="746125" lvl="1" indent="-457200">
              <a:buFont typeface="+mj-lt"/>
              <a:buAutoNum type="arabicPeriod"/>
            </a:pPr>
            <a:r>
              <a:rPr lang="en-US" dirty="0"/>
              <a:t>Change Key 1 in applications to Key 2</a:t>
            </a:r>
          </a:p>
          <a:p>
            <a:pPr marL="746125" lvl="1" indent="-457200">
              <a:buFont typeface="+mj-lt"/>
              <a:buAutoNum type="arabicPeriod"/>
            </a:pPr>
            <a:r>
              <a:rPr lang="en-US" dirty="0"/>
              <a:t>Regenerate Key 1 </a:t>
            </a:r>
          </a:p>
          <a:p>
            <a:pPr marL="461962" indent="-457200"/>
            <a:endParaRPr lang="en-US" dirty="0"/>
          </a:p>
        </p:txBody>
      </p:sp>
      <p:sp>
        <p:nvSpPr>
          <p:cNvPr id="4" name="Text Placeholder 3">
            <a:extLst>
              <a:ext uri="{FF2B5EF4-FFF2-40B4-BE49-F238E27FC236}">
                <a16:creationId xmlns:a16="http://schemas.microsoft.com/office/drawing/2014/main" id="{D06B0910-441B-4310-A301-5BE372C4654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612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id="{FFBE229A-6E90-49C6-AD81-4AD23FFD780E}"/>
              </a:ext>
            </a:extLst>
          </p:cNvPr>
          <p:cNvSpPr>
            <a:spLocks noGrp="1"/>
          </p:cNvSpPr>
          <p:nvPr>
            <p:ph type="body" idx="1"/>
          </p:nvPr>
        </p:nvSpPr>
        <p:spPr/>
        <p:txBody>
          <a:bodyPr/>
          <a:lstStyle/>
          <a:p>
            <a:r>
              <a:rPr lang="en-US" dirty="0"/>
              <a:t>String containing a security token </a:t>
            </a:r>
          </a:p>
          <a:p>
            <a:r>
              <a:rPr lang="en-US" dirty="0"/>
              <a:t>Attached to 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306-0FC0-45B9-8550-82E3E7ADCFD9}"/>
              </a:ext>
            </a:extLst>
          </p:cNvPr>
          <p:cNvSpPr>
            <a:spLocks noGrp="1"/>
          </p:cNvSpPr>
          <p:nvPr>
            <p:ph type="title"/>
          </p:nvPr>
        </p:nvSpPr>
        <p:spPr/>
        <p:txBody>
          <a:bodyPr/>
          <a:lstStyle/>
          <a:p>
            <a:r>
              <a:rPr lang="en-US" dirty="0"/>
              <a:t>Why use Shared Access Signatures </a:t>
            </a:r>
          </a:p>
        </p:txBody>
      </p:sp>
      <p:sp>
        <p:nvSpPr>
          <p:cNvPr id="3" name="Text Placeholder 2">
            <a:extLst>
              <a:ext uri="{FF2B5EF4-FFF2-40B4-BE49-F238E27FC236}">
                <a16:creationId xmlns:a16="http://schemas.microsoft.com/office/drawing/2014/main" id="{135493B1-768C-4D21-937B-02154E165BA7}"/>
              </a:ext>
            </a:extLst>
          </p:cNvPr>
          <p:cNvSpPr>
            <a:spLocks noGrp="1"/>
          </p:cNvSpPr>
          <p:nvPr>
            <p:ph type="body" idx="1"/>
          </p:nvPr>
        </p:nvSpPr>
        <p:spPr/>
        <p:txBody>
          <a:bodyPr/>
          <a:lstStyle/>
          <a:p>
            <a:r>
              <a:rPr lang="en-US" dirty="0"/>
              <a:t>Storage Account Keys give to much access </a:t>
            </a:r>
          </a:p>
          <a:p>
            <a:r>
              <a:rPr lang="en-US" dirty="0"/>
              <a:t>Limited time and limited access (principle of Least Privilege)</a:t>
            </a:r>
          </a:p>
          <a:p>
            <a:r>
              <a:rPr lang="en-US" dirty="0"/>
              <a:t>Restrictions to certain IP addresses </a:t>
            </a:r>
          </a:p>
          <a:p>
            <a:r>
              <a:rPr lang="en-US" dirty="0"/>
              <a:t>Specific protocols (require SSL)</a:t>
            </a:r>
          </a:p>
        </p:txBody>
      </p:sp>
      <p:sp>
        <p:nvSpPr>
          <p:cNvPr id="4" name="Text Placeholder 3">
            <a:extLst>
              <a:ext uri="{FF2B5EF4-FFF2-40B4-BE49-F238E27FC236}">
                <a16:creationId xmlns:a16="http://schemas.microsoft.com/office/drawing/2014/main" id="{1C248DD3-94B1-4357-8B2E-1B97CFCF15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27845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710B-C1EF-4C9B-BFD8-CB9F23DAD6A7}"/>
              </a:ext>
            </a:extLst>
          </p:cNvPr>
          <p:cNvSpPr>
            <a:spLocks noGrp="1"/>
          </p:cNvSpPr>
          <p:nvPr>
            <p:ph type="title"/>
          </p:nvPr>
        </p:nvSpPr>
        <p:spPr/>
        <p:txBody>
          <a:bodyPr/>
          <a:lstStyle/>
          <a:p>
            <a:r>
              <a:rPr lang="en-US" dirty="0"/>
              <a:t>What is a Shared Access Signature</a:t>
            </a:r>
          </a:p>
        </p:txBody>
      </p:sp>
      <p:sp>
        <p:nvSpPr>
          <p:cNvPr id="3" name="Text Placeholder 2">
            <a:extLst>
              <a:ext uri="{FF2B5EF4-FFF2-40B4-BE49-F238E27FC236}">
                <a16:creationId xmlns:a16="http://schemas.microsoft.com/office/drawing/2014/main" id="{6B2253FD-A355-474A-99DF-2CCAE60FE8AF}"/>
              </a:ext>
            </a:extLst>
          </p:cNvPr>
          <p:cNvSpPr>
            <a:spLocks noGrp="1"/>
          </p:cNvSpPr>
          <p:nvPr>
            <p:ph type="body" idx="1"/>
          </p:nvPr>
        </p:nvSpPr>
        <p:spPr>
          <a:xfrm>
            <a:off x="261253" y="1021215"/>
            <a:ext cx="8574837" cy="1160511"/>
          </a:xfrm>
        </p:spPr>
        <p:txBody>
          <a:bodyPr/>
          <a:lstStyle/>
          <a:p>
            <a:r>
              <a:rPr lang="en-US" dirty="0"/>
              <a:t>Set of query parameters appended to a URL pointing to a resource </a:t>
            </a:r>
          </a:p>
          <a:p>
            <a:endParaRPr lang="en-US" dirty="0"/>
          </a:p>
        </p:txBody>
      </p:sp>
      <p:sp>
        <p:nvSpPr>
          <p:cNvPr id="4" name="Text Placeholder 3">
            <a:extLst>
              <a:ext uri="{FF2B5EF4-FFF2-40B4-BE49-F238E27FC236}">
                <a16:creationId xmlns:a16="http://schemas.microsoft.com/office/drawing/2014/main" id="{102164AB-966B-4064-A843-820F741D433D}"/>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79BBA23A-A639-4092-936C-30BAF1453463}"/>
              </a:ext>
            </a:extLst>
          </p:cNvPr>
          <p:cNvSpPr txBox="1"/>
          <p:nvPr/>
        </p:nvSpPr>
        <p:spPr>
          <a:xfrm>
            <a:off x="700047" y="2459327"/>
            <a:ext cx="7294644" cy="193899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200" dirty="0">
                <a:latin typeface="Segoe UI" panose="020B0502040204020203" pitchFamily="34" charset="0"/>
                <a:cs typeface="Segoe UI" panose="020B0502040204020203" pitchFamily="34" charset="0"/>
              </a:rPr>
              <a:t>http://mystorage.blob.core.windows.net/mycontainer/myblob.txt (URL to the blob)</a:t>
            </a:r>
          </a:p>
          <a:p>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sv</a:t>
            </a:r>
            <a:r>
              <a:rPr lang="en-US" sz="1200" dirty="0">
                <a:latin typeface="Segoe UI" panose="020B0502040204020203" pitchFamily="34" charset="0"/>
                <a:cs typeface="Segoe UI" panose="020B0502040204020203" pitchFamily="34" charset="0"/>
              </a:rPr>
              <a:t>=2015-04-05 (storage service version)</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st</a:t>
            </a:r>
            <a:r>
              <a:rPr lang="en-US" sz="1200" dirty="0">
                <a:latin typeface="Segoe UI" panose="020B0502040204020203" pitchFamily="34" charset="0"/>
                <a:cs typeface="Segoe UI" panose="020B0502040204020203" pitchFamily="34" charset="0"/>
              </a:rPr>
              <a:t>=2015-12-10T22%3A18%3A26Z (start time, in UTC time and URL encoded)</a:t>
            </a:r>
          </a:p>
          <a:p>
            <a:r>
              <a:rPr lang="en-US" sz="1200" dirty="0">
                <a:latin typeface="Segoe UI" panose="020B0502040204020203" pitchFamily="34" charset="0"/>
                <a:cs typeface="Segoe UI" panose="020B0502040204020203" pitchFamily="34" charset="0"/>
              </a:rPr>
              <a:t>&amp;se=2015-12-10T22%3A23%3A26Z (end time, in UTC time and URL encoded)</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sr</a:t>
            </a:r>
            <a:r>
              <a:rPr lang="en-US" sz="1200" dirty="0">
                <a:latin typeface="Segoe UI" panose="020B0502040204020203" pitchFamily="34" charset="0"/>
                <a:cs typeface="Segoe UI" panose="020B0502040204020203" pitchFamily="34" charset="0"/>
              </a:rPr>
              <a:t>=b (resource is a blob)</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a:t>
            </a:r>
            <a:r>
              <a:rPr lang="en-US" sz="1200" dirty="0">
                <a:latin typeface="Segoe UI" panose="020B0502040204020203" pitchFamily="34" charset="0"/>
                <a:cs typeface="Segoe UI" panose="020B0502040204020203" pitchFamily="34" charset="0"/>
              </a:rPr>
              <a:t>=r (read access)</a:t>
            </a:r>
          </a:p>
          <a:p>
            <a:r>
              <a:rPr lang="en-US" sz="1200" dirty="0">
                <a:latin typeface="Segoe UI" panose="020B0502040204020203" pitchFamily="34" charset="0"/>
                <a:cs typeface="Segoe UI" panose="020B0502040204020203" pitchFamily="34" charset="0"/>
              </a:rPr>
              <a:t>&amp;sip=168.1.5.60-168.1.5.70 (requests can only come from this range of IP addresses)</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spr</a:t>
            </a:r>
            <a:r>
              <a:rPr lang="en-US" sz="1200" dirty="0">
                <a:latin typeface="Segoe UI" panose="020B0502040204020203" pitchFamily="34" charset="0"/>
                <a:cs typeface="Segoe UI" panose="020B0502040204020203" pitchFamily="34" charset="0"/>
              </a:rPr>
              <a:t>=https (only allow HTTPS requests)</a:t>
            </a:r>
          </a:p>
          <a:p>
            <a:r>
              <a:rPr lang="en-US" sz="1200" dirty="0">
                <a:latin typeface="Segoe UI" panose="020B0502040204020203" pitchFamily="34" charset="0"/>
                <a:cs typeface="Segoe UI" panose="020B0502040204020203" pitchFamily="34" charset="0"/>
              </a:rPr>
              <a:t>&amp;sig=Z%2FRHIX5Xcg0Mq2rqI3OlWTjEg2tYkboXr1P9ZUXDtkk%3D (signature used for the authentication of the SAS)</a:t>
            </a:r>
          </a:p>
        </p:txBody>
      </p:sp>
    </p:spTree>
    <p:extLst>
      <p:ext uri="{BB962C8B-B14F-4D97-AF65-F5344CB8AC3E}">
        <p14:creationId xmlns:p14="http://schemas.microsoft.com/office/powerpoint/2010/main" val="9491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DED6-4B30-46CF-9716-AC4FE502C59F}"/>
              </a:ext>
            </a:extLst>
          </p:cNvPr>
          <p:cNvSpPr>
            <a:spLocks noGrp="1"/>
          </p:cNvSpPr>
          <p:nvPr>
            <p:ph type="title"/>
          </p:nvPr>
        </p:nvSpPr>
        <p:spPr/>
        <p:txBody>
          <a:bodyPr/>
          <a:lstStyle/>
          <a:p>
            <a:r>
              <a:rPr lang="en-US" dirty="0"/>
              <a:t>Shared Access Signature authentication to Azure Storage Service</a:t>
            </a:r>
          </a:p>
        </p:txBody>
      </p:sp>
      <p:sp>
        <p:nvSpPr>
          <p:cNvPr id="3" name="Text Placeholder 2">
            <a:extLst>
              <a:ext uri="{FF2B5EF4-FFF2-40B4-BE49-F238E27FC236}">
                <a16:creationId xmlns:a16="http://schemas.microsoft.com/office/drawing/2014/main" id="{5E7D57CF-E55C-40A2-840E-128AA8337E02}"/>
              </a:ext>
            </a:extLst>
          </p:cNvPr>
          <p:cNvSpPr>
            <a:spLocks noGrp="1"/>
          </p:cNvSpPr>
          <p:nvPr>
            <p:ph type="body" idx="1"/>
          </p:nvPr>
        </p:nvSpPr>
        <p:spPr/>
        <p:txBody>
          <a:bodyPr/>
          <a:lstStyle/>
          <a:p>
            <a:r>
              <a:rPr lang="en-US" dirty="0"/>
              <a:t>Inputs query parameters and creates a signature from calling program </a:t>
            </a:r>
          </a:p>
          <a:p>
            <a:r>
              <a:rPr lang="en-US" dirty="0"/>
              <a:t>Compares signatures </a:t>
            </a:r>
          </a:p>
          <a:p>
            <a:r>
              <a:rPr lang="en-US" dirty="0"/>
              <a:t>Check if date and time within range </a:t>
            </a:r>
          </a:p>
          <a:p>
            <a:r>
              <a:rPr lang="en-US" dirty="0"/>
              <a:t>Types </a:t>
            </a:r>
          </a:p>
          <a:p>
            <a:pPr lvl="1"/>
            <a:r>
              <a:rPr lang="en-US" dirty="0"/>
              <a:t>Service-level SAS </a:t>
            </a:r>
          </a:p>
          <a:p>
            <a:pPr lvl="1"/>
            <a:r>
              <a:rPr lang="en-US" dirty="0"/>
              <a:t>Account-level SAS </a:t>
            </a:r>
          </a:p>
        </p:txBody>
      </p:sp>
      <p:sp>
        <p:nvSpPr>
          <p:cNvPr id="4" name="Text Placeholder 3">
            <a:extLst>
              <a:ext uri="{FF2B5EF4-FFF2-40B4-BE49-F238E27FC236}">
                <a16:creationId xmlns:a16="http://schemas.microsoft.com/office/drawing/2014/main" id="{16D58D5A-1AF5-4E76-A6B3-596ECAA6888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75707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E449-47BE-4E4B-9A4F-CA9C08AA1A4C}"/>
              </a:ext>
            </a:extLst>
          </p:cNvPr>
          <p:cNvSpPr>
            <a:spLocks noGrp="1"/>
          </p:cNvSpPr>
          <p:nvPr>
            <p:ph type="title"/>
          </p:nvPr>
        </p:nvSpPr>
        <p:spPr>
          <a:xfrm>
            <a:off x="444333" y="-51235"/>
            <a:ext cx="7773988" cy="740664"/>
          </a:xfrm>
        </p:spPr>
        <p:txBody>
          <a:bodyPr/>
          <a:lstStyle/>
          <a:p>
            <a:r>
              <a:rPr lang="en-US" dirty="0"/>
              <a:t>Revocation of SAS </a:t>
            </a:r>
          </a:p>
        </p:txBody>
      </p:sp>
      <p:sp>
        <p:nvSpPr>
          <p:cNvPr id="3" name="Text Placeholder 2">
            <a:extLst>
              <a:ext uri="{FF2B5EF4-FFF2-40B4-BE49-F238E27FC236}">
                <a16:creationId xmlns:a16="http://schemas.microsoft.com/office/drawing/2014/main" id="{CC45C1BE-B264-4435-ADE6-5270488BDB52}"/>
              </a:ext>
            </a:extLst>
          </p:cNvPr>
          <p:cNvSpPr>
            <a:spLocks noGrp="1"/>
          </p:cNvSpPr>
          <p:nvPr>
            <p:ph type="body" idx="1"/>
          </p:nvPr>
        </p:nvSpPr>
        <p:spPr/>
        <p:txBody>
          <a:bodyPr/>
          <a:lstStyle/>
          <a:p>
            <a:pPr marL="514350" indent="-514350"/>
            <a:r>
              <a:rPr lang="en-US" dirty="0"/>
              <a:t>Ad hoc </a:t>
            </a:r>
          </a:p>
          <a:p>
            <a:pPr marL="798513" lvl="1" indent="-514350"/>
            <a:r>
              <a:rPr lang="en-US" dirty="0"/>
              <a:t>Short expiration polices </a:t>
            </a:r>
          </a:p>
          <a:p>
            <a:pPr marL="798513" lvl="1" indent="-514350"/>
            <a:r>
              <a:rPr lang="en-US" dirty="0"/>
              <a:t>Rename or delete the resource </a:t>
            </a:r>
          </a:p>
          <a:p>
            <a:pPr marL="798513" lvl="1" indent="-514350"/>
            <a:r>
              <a:rPr lang="en-US" dirty="0"/>
              <a:t>Change the storage account keys </a:t>
            </a:r>
          </a:p>
          <a:p>
            <a:pPr marL="514350" indent="-514350"/>
            <a:r>
              <a:rPr lang="en-US" dirty="0"/>
              <a:t>Stored Access Policy</a:t>
            </a:r>
          </a:p>
          <a:p>
            <a:pPr marL="798513" lvl="1" indent="-514350"/>
            <a:r>
              <a:rPr lang="en-US" dirty="0"/>
              <a:t>Remove access policy </a:t>
            </a:r>
          </a:p>
          <a:p>
            <a:pPr marL="798513" lvl="1" indent="-514350"/>
            <a:r>
              <a:rPr lang="en-US" dirty="0"/>
              <a:t>Change expiration date </a:t>
            </a:r>
          </a:p>
          <a:p>
            <a:pPr marL="798513" lvl="1" indent="-514350"/>
            <a:r>
              <a:rPr lang="en-US" dirty="0"/>
              <a:t>Remove it		</a:t>
            </a:r>
          </a:p>
        </p:txBody>
      </p:sp>
      <p:sp>
        <p:nvSpPr>
          <p:cNvPr id="4" name="Text Placeholder 3">
            <a:extLst>
              <a:ext uri="{FF2B5EF4-FFF2-40B4-BE49-F238E27FC236}">
                <a16:creationId xmlns:a16="http://schemas.microsoft.com/office/drawing/2014/main" id="{CA900AE1-7275-4FD9-A182-709F0A0F1A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851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a:xfrm>
            <a:off x="597160" y="508962"/>
            <a:ext cx="8379200" cy="1011928"/>
          </a:xfrm>
        </p:spPr>
        <p:txBody>
          <a:bodyPr/>
          <a:lstStyle/>
          <a:p>
            <a:r>
              <a:rPr lang="en-US" dirty="0"/>
              <a:t>Implement Storage Encryption </a:t>
            </a:r>
            <a:br>
              <a:rPr lang="en-US" sz="4000" dirty="0"/>
            </a:br>
            <a:endParaRPr lang="en-US" sz="4000"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 Encrypt data as written to Azure Storage by using Azure Storage Service Encryption (SSE); implement encrypted and role-based security for data managed by Azure Data Lake Store</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5833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0AE6-1D82-4004-AF0B-AEFC177B0F82}"/>
              </a:ext>
            </a:extLst>
          </p:cNvPr>
          <p:cNvSpPr>
            <a:spLocks noGrp="1"/>
          </p:cNvSpPr>
          <p:nvPr>
            <p:ph type="title"/>
          </p:nvPr>
        </p:nvSpPr>
        <p:spPr/>
        <p:txBody>
          <a:bodyPr/>
          <a:lstStyle/>
          <a:p>
            <a:r>
              <a:rPr lang="en-US" dirty="0"/>
              <a:t>Transit-Level Encryption – using HTTPS</a:t>
            </a:r>
          </a:p>
        </p:txBody>
      </p:sp>
      <p:sp>
        <p:nvSpPr>
          <p:cNvPr id="3" name="Text Placeholder 2">
            <a:extLst>
              <a:ext uri="{FF2B5EF4-FFF2-40B4-BE49-F238E27FC236}">
                <a16:creationId xmlns:a16="http://schemas.microsoft.com/office/drawing/2014/main" id="{10B35575-5006-407E-8D5E-D666BEB43BA3}"/>
              </a:ext>
            </a:extLst>
          </p:cNvPr>
          <p:cNvSpPr>
            <a:spLocks noGrp="1"/>
          </p:cNvSpPr>
          <p:nvPr>
            <p:ph type="body" idx="1"/>
          </p:nvPr>
        </p:nvSpPr>
        <p:spPr/>
        <p:txBody>
          <a:bodyPr/>
          <a:lstStyle/>
          <a:p>
            <a:r>
              <a:rPr lang="en-US" dirty="0"/>
              <a:t>Ensures secure communication over public internet </a:t>
            </a:r>
          </a:p>
          <a:p>
            <a:r>
              <a:rPr lang="en-US" dirty="0"/>
              <a:t>Use HTTPS for REST APIs and SAS URIs</a:t>
            </a:r>
          </a:p>
          <a:p>
            <a:endParaRPr lang="en-US" dirty="0"/>
          </a:p>
        </p:txBody>
      </p:sp>
      <p:sp>
        <p:nvSpPr>
          <p:cNvPr id="4" name="Text Placeholder 3">
            <a:extLst>
              <a:ext uri="{FF2B5EF4-FFF2-40B4-BE49-F238E27FC236}">
                <a16:creationId xmlns:a16="http://schemas.microsoft.com/office/drawing/2014/main" id="{7BFE2905-2AEF-4CD3-8BF7-124C5A11FA13}"/>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A182754B-E7F7-481F-BE9D-4FDD92988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049" y="2263942"/>
            <a:ext cx="6502261" cy="3174332"/>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grpSp>
        <p:nvGrpSpPr>
          <p:cNvPr id="8" name="Group 7">
            <a:extLst>
              <a:ext uri="{FF2B5EF4-FFF2-40B4-BE49-F238E27FC236}">
                <a16:creationId xmlns:a16="http://schemas.microsoft.com/office/drawing/2014/main" id="{280BB185-B743-498F-AE1C-F897F5B2D859}"/>
              </a:ext>
            </a:extLst>
          </p:cNvPr>
          <p:cNvGrpSpPr/>
          <p:nvPr/>
        </p:nvGrpSpPr>
        <p:grpSpPr>
          <a:xfrm>
            <a:off x="1559049" y="4074695"/>
            <a:ext cx="5492573" cy="609600"/>
            <a:chOff x="1559049" y="4074695"/>
            <a:chExt cx="5492573" cy="609600"/>
          </a:xfrm>
        </p:grpSpPr>
        <p:sp>
          <p:nvSpPr>
            <p:cNvPr id="6" name="Rectangle 5">
              <a:extLst>
                <a:ext uri="{FF2B5EF4-FFF2-40B4-BE49-F238E27FC236}">
                  <a16:creationId xmlns:a16="http://schemas.microsoft.com/office/drawing/2014/main" id="{D460ACB7-4D77-42DB-85F2-8665B1A1BD9C}"/>
                </a:ext>
              </a:extLst>
            </p:cNvPr>
            <p:cNvSpPr/>
            <p:nvPr/>
          </p:nvSpPr>
          <p:spPr bwMode="auto">
            <a:xfrm>
              <a:off x="1559049" y="4074695"/>
              <a:ext cx="1745625" cy="609600"/>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TextBox 6">
              <a:extLst>
                <a:ext uri="{FF2B5EF4-FFF2-40B4-BE49-F238E27FC236}">
                  <a16:creationId xmlns:a16="http://schemas.microsoft.com/office/drawing/2014/main" id="{3A19CFEB-F6FC-4DC5-AF44-F3F168924D85}"/>
                </a:ext>
              </a:extLst>
            </p:cNvPr>
            <p:cNvSpPr txBox="1"/>
            <p:nvPr/>
          </p:nvSpPr>
          <p:spPr>
            <a:xfrm>
              <a:off x="3850105" y="4194829"/>
              <a:ext cx="3201517"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dirty="0"/>
                <a:t>Forced secure transfer</a:t>
              </a:r>
            </a:p>
          </p:txBody>
        </p:sp>
      </p:grpSp>
    </p:spTree>
    <p:extLst>
      <p:ext uri="{BB962C8B-B14F-4D97-AF65-F5344CB8AC3E}">
        <p14:creationId xmlns:p14="http://schemas.microsoft.com/office/powerpoint/2010/main" val="173050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C288-B467-4060-978B-EE9DDF007606}"/>
              </a:ext>
            </a:extLst>
          </p:cNvPr>
          <p:cNvSpPr>
            <a:spLocks noGrp="1"/>
          </p:cNvSpPr>
          <p:nvPr>
            <p:ph type="title"/>
          </p:nvPr>
        </p:nvSpPr>
        <p:spPr/>
        <p:txBody>
          <a:bodyPr/>
          <a:lstStyle/>
          <a:p>
            <a:r>
              <a:rPr lang="en-US" dirty="0"/>
              <a:t>Encryption during transit with Azure File shares </a:t>
            </a:r>
          </a:p>
        </p:txBody>
      </p:sp>
      <p:sp>
        <p:nvSpPr>
          <p:cNvPr id="3" name="Text Placeholder 2">
            <a:extLst>
              <a:ext uri="{FF2B5EF4-FFF2-40B4-BE49-F238E27FC236}">
                <a16:creationId xmlns:a16="http://schemas.microsoft.com/office/drawing/2014/main" id="{0A323C6C-8FC8-4551-A0B5-4E8FC98D684A}"/>
              </a:ext>
            </a:extLst>
          </p:cNvPr>
          <p:cNvSpPr>
            <a:spLocks noGrp="1"/>
          </p:cNvSpPr>
          <p:nvPr>
            <p:ph type="body" idx="1"/>
          </p:nvPr>
        </p:nvSpPr>
        <p:spPr/>
        <p:txBody>
          <a:bodyPr/>
          <a:lstStyle/>
          <a:p>
            <a:r>
              <a:rPr lang="en-US" dirty="0"/>
              <a:t>Same region in Azure </a:t>
            </a:r>
          </a:p>
          <a:p>
            <a:r>
              <a:rPr lang="en-US" dirty="0"/>
              <a:t>2.1 does not support </a:t>
            </a:r>
          </a:p>
          <a:p>
            <a:r>
              <a:rPr lang="en-US" dirty="0"/>
              <a:t>SMB 3.0 does </a:t>
            </a:r>
          </a:p>
          <a:p>
            <a:pPr lvl="1"/>
            <a:r>
              <a:rPr lang="en-US" dirty="0"/>
              <a:t>Windows 8 and above </a:t>
            </a:r>
          </a:p>
          <a:p>
            <a:pPr lvl="1"/>
            <a:r>
              <a:rPr lang="en-US" dirty="0"/>
              <a:t>Windows Server 2012 R2 and above </a:t>
            </a:r>
          </a:p>
          <a:p>
            <a:pPr lvl="1"/>
            <a:r>
              <a:rPr lang="en-US" dirty="0"/>
              <a:t>Cross region and desktop access </a:t>
            </a:r>
          </a:p>
          <a:p>
            <a:r>
              <a:rPr lang="en-US" dirty="0"/>
              <a:t>Not supported in Linux </a:t>
            </a:r>
          </a:p>
          <a:p>
            <a:r>
              <a:rPr lang="en-US" dirty="0"/>
              <a:t>Can enforce by configuring Azure Storage Account as in previous example (REST APIs)</a:t>
            </a:r>
          </a:p>
        </p:txBody>
      </p:sp>
      <p:sp>
        <p:nvSpPr>
          <p:cNvPr id="4" name="Text Placeholder 3">
            <a:extLst>
              <a:ext uri="{FF2B5EF4-FFF2-40B4-BE49-F238E27FC236}">
                <a16:creationId xmlns:a16="http://schemas.microsoft.com/office/drawing/2014/main" id="{F19CEFAD-73DC-4154-A5F7-FF84670E8EE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59128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649-0243-4965-BED8-F6D012AB24DA}"/>
              </a:ext>
            </a:extLst>
          </p:cNvPr>
          <p:cNvSpPr>
            <a:spLocks noGrp="1"/>
          </p:cNvSpPr>
          <p:nvPr>
            <p:ph type="title"/>
          </p:nvPr>
        </p:nvSpPr>
        <p:spPr/>
        <p:txBody>
          <a:bodyPr/>
          <a:lstStyle/>
          <a:p>
            <a:r>
              <a:rPr lang="en-US" dirty="0"/>
              <a:t>Storage Service Encryption (SSE)</a:t>
            </a:r>
          </a:p>
        </p:txBody>
      </p:sp>
      <p:sp>
        <p:nvSpPr>
          <p:cNvPr id="3" name="Text Placeholder 2">
            <a:extLst>
              <a:ext uri="{FF2B5EF4-FFF2-40B4-BE49-F238E27FC236}">
                <a16:creationId xmlns:a16="http://schemas.microsoft.com/office/drawing/2014/main" id="{D6D37197-72CF-4F74-A6DC-FAA6A4EC04B4}"/>
              </a:ext>
            </a:extLst>
          </p:cNvPr>
          <p:cNvSpPr>
            <a:spLocks noGrp="1"/>
          </p:cNvSpPr>
          <p:nvPr>
            <p:ph type="body" idx="1"/>
          </p:nvPr>
        </p:nvSpPr>
        <p:spPr/>
        <p:txBody>
          <a:bodyPr numCol="2"/>
          <a:lstStyle/>
          <a:p>
            <a:r>
              <a:rPr lang="en-US" dirty="0"/>
              <a:t>Automatic encrypt data when writing to Azure Storage</a:t>
            </a:r>
          </a:p>
          <a:p>
            <a:r>
              <a:rPr lang="en-US" dirty="0"/>
              <a:t>Decrypted when read </a:t>
            </a:r>
          </a:p>
          <a:p>
            <a:r>
              <a:rPr lang="en-US" dirty="0"/>
              <a:t>Whole storage account </a:t>
            </a:r>
          </a:p>
          <a:p>
            <a:r>
              <a:rPr lang="en-US" dirty="0"/>
              <a:t>Can be done </a:t>
            </a:r>
          </a:p>
          <a:p>
            <a:pPr lvl="1"/>
            <a:r>
              <a:rPr lang="en-US" dirty="0"/>
              <a:t>Azure portal </a:t>
            </a:r>
          </a:p>
          <a:p>
            <a:pPr lvl="1"/>
            <a:r>
              <a:rPr lang="en-US" dirty="0"/>
              <a:t>PowerShell </a:t>
            </a:r>
          </a:p>
          <a:p>
            <a:pPr lvl="1"/>
            <a:r>
              <a:rPr lang="en-US" dirty="0"/>
              <a:t>Azure CLI</a:t>
            </a:r>
          </a:p>
          <a:p>
            <a:pPr lvl="1"/>
            <a:r>
              <a:rPr lang="en-US" dirty="0"/>
              <a:t>Storage Resource Provider REST API</a:t>
            </a:r>
          </a:p>
          <a:p>
            <a:pPr lvl="1"/>
            <a:r>
              <a:rPr lang="en-US" dirty="0"/>
              <a:t>.NET Storage Client Library </a:t>
            </a:r>
          </a:p>
          <a:p>
            <a:r>
              <a:rPr lang="en-US" dirty="0"/>
              <a:t>Off by default </a:t>
            </a:r>
          </a:p>
          <a:p>
            <a:r>
              <a:rPr lang="en-US" dirty="0"/>
              <a:t>Keys are generated by Microsoft </a:t>
            </a:r>
          </a:p>
          <a:p>
            <a:r>
              <a:rPr lang="en-US" dirty="0"/>
              <a:t>Standard and Premium accounts </a:t>
            </a:r>
          </a:p>
          <a:p>
            <a:r>
              <a:rPr lang="en-US" dirty="0"/>
              <a:t>Resource Manager </a:t>
            </a:r>
          </a:p>
          <a:p>
            <a:r>
              <a:rPr lang="en-US" dirty="0"/>
              <a:t>Blob storage only and SSE enabled </a:t>
            </a:r>
          </a:p>
          <a:p>
            <a:r>
              <a:rPr lang="en-US" dirty="0"/>
              <a:t>Enabling or Disabling does not affect existing </a:t>
            </a:r>
          </a:p>
        </p:txBody>
      </p:sp>
      <p:sp>
        <p:nvSpPr>
          <p:cNvPr id="4" name="Text Placeholder 3">
            <a:extLst>
              <a:ext uri="{FF2B5EF4-FFF2-40B4-BE49-F238E27FC236}">
                <a16:creationId xmlns:a16="http://schemas.microsoft.com/office/drawing/2014/main" id="{8511F0B9-4E90-490B-B055-8F9A8094979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1492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A1D0-2577-465D-9B5F-DC0FAD2FD6C0}"/>
              </a:ext>
            </a:extLst>
          </p:cNvPr>
          <p:cNvSpPr>
            <a:spLocks noGrp="1"/>
          </p:cNvSpPr>
          <p:nvPr>
            <p:ph type="title"/>
          </p:nvPr>
        </p:nvSpPr>
        <p:spPr/>
        <p:txBody>
          <a:bodyPr/>
          <a:lstStyle/>
          <a:p>
            <a:r>
              <a:rPr lang="en-US" dirty="0"/>
              <a:t>Client-side Encryption </a:t>
            </a:r>
          </a:p>
        </p:txBody>
      </p:sp>
      <p:sp>
        <p:nvSpPr>
          <p:cNvPr id="3" name="Text Placeholder 2">
            <a:extLst>
              <a:ext uri="{FF2B5EF4-FFF2-40B4-BE49-F238E27FC236}">
                <a16:creationId xmlns:a16="http://schemas.microsoft.com/office/drawing/2014/main" id="{EC80AA12-AF99-42AD-B983-8FA9879E73D2}"/>
              </a:ext>
            </a:extLst>
          </p:cNvPr>
          <p:cNvSpPr>
            <a:spLocks noGrp="1"/>
          </p:cNvSpPr>
          <p:nvPr>
            <p:ph type="body" idx="1"/>
          </p:nvPr>
        </p:nvSpPr>
        <p:spPr/>
        <p:txBody>
          <a:bodyPr/>
          <a:lstStyle/>
          <a:p>
            <a:r>
              <a:rPr lang="en-US" dirty="0"/>
              <a:t>Programmatically encrypt in transit </a:t>
            </a:r>
          </a:p>
          <a:p>
            <a:r>
              <a:rPr lang="en-US" dirty="0"/>
              <a:t>In transit and also at rest </a:t>
            </a:r>
          </a:p>
          <a:p>
            <a:r>
              <a:rPr lang="en-US" dirty="0"/>
              <a:t>Still use HTTPS for in transit </a:t>
            </a:r>
          </a:p>
          <a:p>
            <a:r>
              <a:rPr lang="en-US" dirty="0"/>
              <a:t>Java and .NET storage client libraries </a:t>
            </a:r>
          </a:p>
          <a:p>
            <a:r>
              <a:rPr lang="en-US" dirty="0"/>
              <a:t>Azure Key Vault APIs</a:t>
            </a:r>
          </a:p>
          <a:p>
            <a:r>
              <a:rPr lang="en-US" dirty="0"/>
              <a:t>Uses Envelope technique and metadata </a:t>
            </a:r>
          </a:p>
          <a:p>
            <a:r>
              <a:rPr lang="en-US" dirty="0"/>
              <a:t>Generate and use your own encryption keys </a:t>
            </a:r>
          </a:p>
          <a:p>
            <a:r>
              <a:rPr lang="en-US" dirty="0"/>
              <a:t>Use keys generated by Azure Storage client library</a:t>
            </a:r>
          </a:p>
          <a:p>
            <a:r>
              <a:rPr lang="en-US" dirty="0"/>
              <a:t>Azure Key Vault keys </a:t>
            </a:r>
          </a:p>
        </p:txBody>
      </p:sp>
      <p:sp>
        <p:nvSpPr>
          <p:cNvPr id="4" name="Text Placeholder 3">
            <a:extLst>
              <a:ext uri="{FF2B5EF4-FFF2-40B4-BE49-F238E27FC236}">
                <a16:creationId xmlns:a16="http://schemas.microsoft.com/office/drawing/2014/main" id="{97A9AA5D-B7A3-4EB5-80A8-DB7FC148643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0600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FB4E-3A81-4ED9-9707-1228CC0B1D80}"/>
              </a:ext>
            </a:extLst>
          </p:cNvPr>
          <p:cNvSpPr>
            <a:spLocks noGrp="1"/>
          </p:cNvSpPr>
          <p:nvPr>
            <p:ph type="title"/>
          </p:nvPr>
        </p:nvSpPr>
        <p:spPr/>
        <p:txBody>
          <a:bodyPr/>
          <a:lstStyle/>
          <a:p>
            <a:r>
              <a:rPr lang="en-US" dirty="0"/>
              <a:t>Azure Disk Encryption </a:t>
            </a:r>
          </a:p>
        </p:txBody>
      </p:sp>
      <p:sp>
        <p:nvSpPr>
          <p:cNvPr id="3" name="Text Placeholder 2">
            <a:extLst>
              <a:ext uri="{FF2B5EF4-FFF2-40B4-BE49-F238E27FC236}">
                <a16:creationId xmlns:a16="http://schemas.microsoft.com/office/drawing/2014/main" id="{6BC7E72F-4EF5-42BB-8FB6-D466B88A3924}"/>
              </a:ext>
            </a:extLst>
          </p:cNvPr>
          <p:cNvSpPr>
            <a:spLocks noGrp="1"/>
          </p:cNvSpPr>
          <p:nvPr>
            <p:ph type="body" idx="1"/>
          </p:nvPr>
        </p:nvSpPr>
        <p:spPr/>
        <p:txBody>
          <a:bodyPr/>
          <a:lstStyle/>
          <a:p>
            <a:r>
              <a:rPr lang="en-US" dirty="0"/>
              <a:t>Encrypt OS disks and Data disks in VMs</a:t>
            </a:r>
          </a:p>
          <a:p>
            <a:r>
              <a:rPr lang="en-US" dirty="0"/>
              <a:t>BitLocker for Windows </a:t>
            </a:r>
          </a:p>
          <a:p>
            <a:r>
              <a:rPr lang="en-US" dirty="0"/>
              <a:t>DM-Crypt for Linux </a:t>
            </a:r>
          </a:p>
          <a:p>
            <a:r>
              <a:rPr lang="en-US" dirty="0"/>
              <a:t>Integrated with Azure Key Vault </a:t>
            </a:r>
          </a:p>
          <a:p>
            <a:endParaRPr lang="en-US" dirty="0"/>
          </a:p>
        </p:txBody>
      </p:sp>
      <p:sp>
        <p:nvSpPr>
          <p:cNvPr id="4" name="Text Placeholder 3">
            <a:extLst>
              <a:ext uri="{FF2B5EF4-FFF2-40B4-BE49-F238E27FC236}">
                <a16:creationId xmlns:a16="http://schemas.microsoft.com/office/drawing/2014/main" id="{2A9A47FA-2E16-498C-84EB-36DFBB9D07C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399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3BD-9027-4D1C-B40E-24F26B5CA519}"/>
              </a:ext>
            </a:extLst>
          </p:cNvPr>
          <p:cNvSpPr>
            <a:spLocks noGrp="1"/>
          </p:cNvSpPr>
          <p:nvPr>
            <p:ph type="title"/>
          </p:nvPr>
        </p:nvSpPr>
        <p:spPr/>
        <p:txBody>
          <a:bodyPr/>
          <a:lstStyle/>
          <a:p>
            <a:r>
              <a:rPr lang="en-US" dirty="0"/>
              <a:t>Supported by Azure Disk Encryption</a:t>
            </a:r>
          </a:p>
        </p:txBody>
      </p:sp>
      <p:sp>
        <p:nvSpPr>
          <p:cNvPr id="3" name="Text Placeholder 2">
            <a:extLst>
              <a:ext uri="{FF2B5EF4-FFF2-40B4-BE49-F238E27FC236}">
                <a16:creationId xmlns:a16="http://schemas.microsoft.com/office/drawing/2014/main" id="{1C37E5C1-5B9D-4D08-9AA4-7AA2B4EFB96A}"/>
              </a:ext>
            </a:extLst>
          </p:cNvPr>
          <p:cNvSpPr>
            <a:spLocks noGrp="1"/>
          </p:cNvSpPr>
          <p:nvPr>
            <p:ph type="body" idx="1"/>
          </p:nvPr>
        </p:nvSpPr>
        <p:spPr/>
        <p:txBody>
          <a:bodyPr/>
          <a:lstStyle/>
          <a:p>
            <a:r>
              <a:rPr lang="en-US" sz="2400" dirty="0"/>
              <a:t>Integration with Azure Key Vault </a:t>
            </a:r>
          </a:p>
          <a:p>
            <a:r>
              <a:rPr lang="en-US" sz="2400" dirty="0"/>
              <a:t>Standard VMs: A, D, G, GS </a:t>
            </a:r>
          </a:p>
          <a:p>
            <a:r>
              <a:rPr lang="en-US" sz="2400" dirty="0"/>
              <a:t>Enabling encryption on Windows and Linux IaaS VMs</a:t>
            </a:r>
          </a:p>
          <a:p>
            <a:r>
              <a:rPr lang="en-US" sz="2400" dirty="0"/>
              <a:t>Disabling encryption on data drives for Linux IaaS VMs</a:t>
            </a:r>
          </a:p>
          <a:p>
            <a:r>
              <a:rPr lang="en-US" sz="2400" dirty="0"/>
              <a:t>Enabling encryption on IaaS VMs running client Windows OS </a:t>
            </a:r>
          </a:p>
          <a:p>
            <a:r>
              <a:rPr lang="en-US" sz="2400" dirty="0"/>
              <a:t>Encryption on volumes and mount paths </a:t>
            </a:r>
          </a:p>
          <a:p>
            <a:r>
              <a:rPr lang="en-US" sz="2400" dirty="0"/>
              <a:t>Linux VMs configured with disk striping (RAID) by using </a:t>
            </a:r>
            <a:r>
              <a:rPr lang="en-US" sz="2400" dirty="0" err="1"/>
              <a:t>mdadm</a:t>
            </a:r>
            <a:endParaRPr lang="en-US" sz="2400" dirty="0"/>
          </a:p>
          <a:p>
            <a:r>
              <a:rPr lang="en-US" sz="2400" dirty="0"/>
              <a:t>Linux VMs by using LVM for data disks </a:t>
            </a:r>
          </a:p>
          <a:p>
            <a:r>
              <a:rPr lang="en-US" sz="2400" dirty="0"/>
              <a:t>Windows VMs configured by using storage spaces </a:t>
            </a:r>
          </a:p>
          <a:p>
            <a:r>
              <a:rPr lang="en-US" sz="2400" dirty="0"/>
              <a:t>All Azure public regions </a:t>
            </a:r>
          </a:p>
        </p:txBody>
      </p:sp>
      <p:sp>
        <p:nvSpPr>
          <p:cNvPr id="4" name="Text Placeholder 3">
            <a:extLst>
              <a:ext uri="{FF2B5EF4-FFF2-40B4-BE49-F238E27FC236}">
                <a16:creationId xmlns:a16="http://schemas.microsoft.com/office/drawing/2014/main" id="{9C4CA1E0-7B55-45BF-9BB9-C7EEF5E9043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5745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F7D9-021E-4D31-9DE7-D588D6C27A13}"/>
              </a:ext>
            </a:extLst>
          </p:cNvPr>
          <p:cNvSpPr>
            <a:spLocks noGrp="1"/>
          </p:cNvSpPr>
          <p:nvPr>
            <p:ph type="title"/>
          </p:nvPr>
        </p:nvSpPr>
        <p:spPr/>
        <p:txBody>
          <a:bodyPr/>
          <a:lstStyle/>
          <a:p>
            <a:r>
              <a:rPr lang="en-US" dirty="0"/>
              <a:t>Not Support by Azure Disk Encryption</a:t>
            </a:r>
          </a:p>
        </p:txBody>
      </p:sp>
      <p:sp>
        <p:nvSpPr>
          <p:cNvPr id="3" name="Text Placeholder 2">
            <a:extLst>
              <a:ext uri="{FF2B5EF4-FFF2-40B4-BE49-F238E27FC236}">
                <a16:creationId xmlns:a16="http://schemas.microsoft.com/office/drawing/2014/main" id="{0E8DC1D4-1BB5-45D4-9018-6E98D33C5C3B}"/>
              </a:ext>
            </a:extLst>
          </p:cNvPr>
          <p:cNvSpPr>
            <a:spLocks noGrp="1"/>
          </p:cNvSpPr>
          <p:nvPr>
            <p:ph type="body" idx="1"/>
          </p:nvPr>
        </p:nvSpPr>
        <p:spPr/>
        <p:txBody>
          <a:bodyPr/>
          <a:lstStyle/>
          <a:p>
            <a:r>
              <a:rPr lang="en-US" dirty="0"/>
              <a:t>Basic tier IaaS VMs</a:t>
            </a:r>
          </a:p>
          <a:p>
            <a:r>
              <a:rPr lang="en-US" dirty="0"/>
              <a:t>Disabling encryption on an OS for Linux IaaS VMs</a:t>
            </a:r>
          </a:p>
          <a:p>
            <a:r>
              <a:rPr lang="en-US" dirty="0"/>
              <a:t>IaaS VMs that are created by using the classic VM creation method </a:t>
            </a:r>
          </a:p>
          <a:p>
            <a:r>
              <a:rPr lang="en-US" dirty="0"/>
              <a:t>Integration with your on-premises Key Management Service (KMS)</a:t>
            </a:r>
          </a:p>
          <a:p>
            <a:r>
              <a:rPr lang="en-US" dirty="0"/>
              <a:t>Azure files , NFS, dynamic volumes and Windows VMs that are configured with software-based RAID systems</a:t>
            </a:r>
          </a:p>
        </p:txBody>
      </p:sp>
      <p:sp>
        <p:nvSpPr>
          <p:cNvPr id="4" name="Text Placeholder 3">
            <a:extLst>
              <a:ext uri="{FF2B5EF4-FFF2-40B4-BE49-F238E27FC236}">
                <a16:creationId xmlns:a16="http://schemas.microsoft.com/office/drawing/2014/main" id="{631EB052-8EF3-4900-9E4D-6DF68FD2BB0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49817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2EC0-CF9A-46C4-8A6D-ACEAECB0B34B}"/>
              </a:ext>
            </a:extLst>
          </p:cNvPr>
          <p:cNvSpPr>
            <a:spLocks noGrp="1"/>
          </p:cNvSpPr>
          <p:nvPr>
            <p:ph type="title"/>
          </p:nvPr>
        </p:nvSpPr>
        <p:spPr/>
        <p:txBody>
          <a:bodyPr/>
          <a:lstStyle/>
          <a:p>
            <a:r>
              <a:rPr lang="en-US" dirty="0"/>
              <a:t>Comparison of Azure Disk Encryption, SSE and CSE</a:t>
            </a:r>
          </a:p>
        </p:txBody>
      </p:sp>
      <p:graphicFrame>
        <p:nvGraphicFramePr>
          <p:cNvPr id="5" name="Diagram 4">
            <a:extLst>
              <a:ext uri="{FF2B5EF4-FFF2-40B4-BE49-F238E27FC236}">
                <a16:creationId xmlns:a16="http://schemas.microsoft.com/office/drawing/2014/main" id="{1806B77F-C526-46F9-816B-810782C3A78D}"/>
              </a:ext>
            </a:extLst>
          </p:cNvPr>
          <p:cNvGraphicFramePr/>
          <p:nvPr>
            <p:extLst>
              <p:ext uri="{D42A27DB-BD31-4B8C-83A1-F6EECF244321}">
                <p14:modId xmlns:p14="http://schemas.microsoft.com/office/powerpoint/2010/main" val="166360193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CAFDF847-C2A2-4E02-A86B-4E1A001B21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29974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Set retention policies and logging levels; analyze logs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r>
              <a:rPr lang="en-US" dirty="0"/>
              <a:t>Authentication auditing </a:t>
            </a:r>
          </a:p>
          <a:p>
            <a:endParaRPr lang="en-US" dirty="0"/>
          </a:p>
        </p:txBody>
      </p:sp>
      <p:sp>
        <p:nvSpPr>
          <p:cNvPr id="4" name="Text Placeholder 3">
            <a:extLst>
              <a:ext uri="{FF2B5EF4-FFF2-40B4-BE49-F238E27FC236}">
                <a16:creationId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A546-6706-4C87-994B-DB157B862CAD}"/>
              </a:ext>
            </a:extLst>
          </p:cNvPr>
          <p:cNvSpPr>
            <a:spLocks noGrp="1"/>
          </p:cNvSpPr>
          <p:nvPr>
            <p:ph type="title"/>
          </p:nvPr>
        </p:nvSpPr>
        <p:spPr/>
        <p:txBody>
          <a:bodyPr/>
          <a:lstStyle/>
          <a:p>
            <a:r>
              <a:rPr lang="en-US" dirty="0"/>
              <a:t>Storage Log</a:t>
            </a:r>
          </a:p>
        </p:txBody>
      </p:sp>
      <p:sp>
        <p:nvSpPr>
          <p:cNvPr id="4" name="Text Placeholder 3">
            <a:extLst>
              <a:ext uri="{FF2B5EF4-FFF2-40B4-BE49-F238E27FC236}">
                <a16:creationId xmlns:a16="http://schemas.microsoft.com/office/drawing/2014/main" id="{42A954A8-6D67-4D7E-9914-BAE02BFE0828}"/>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95DCFC3A-490C-4FB1-A0CE-10E5A114E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41" y="740661"/>
            <a:ext cx="8204868" cy="3382159"/>
          </a:xfrm>
          <a:prstGeom prst="rect">
            <a:avLst/>
          </a:prstGeom>
        </p:spPr>
      </p:pic>
      <p:sp>
        <p:nvSpPr>
          <p:cNvPr id="6" name="Rectangle 5">
            <a:extLst>
              <a:ext uri="{FF2B5EF4-FFF2-40B4-BE49-F238E27FC236}">
                <a16:creationId xmlns:a16="http://schemas.microsoft.com/office/drawing/2014/main" id="{DB9C80EF-080E-4F10-9356-2FC359453D59}"/>
              </a:ext>
            </a:extLst>
          </p:cNvPr>
          <p:cNvSpPr/>
          <p:nvPr/>
        </p:nvSpPr>
        <p:spPr bwMode="auto">
          <a:xfrm>
            <a:off x="591671" y="1473798"/>
            <a:ext cx="7939143"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Rectangle 6">
            <a:extLst>
              <a:ext uri="{FF2B5EF4-FFF2-40B4-BE49-F238E27FC236}">
                <a16:creationId xmlns:a16="http://schemas.microsoft.com/office/drawing/2014/main" id="{FC6E30A8-1000-4B3B-8950-027667713997}"/>
              </a:ext>
            </a:extLst>
          </p:cNvPr>
          <p:cNvSpPr/>
          <p:nvPr/>
        </p:nvSpPr>
        <p:spPr bwMode="auto">
          <a:xfrm>
            <a:off x="579034" y="3530302"/>
            <a:ext cx="7951780"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50506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96608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39134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833735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86701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59220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92122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04255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3925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B252-22CA-4F0E-94D0-18386FBFD8E4}"/>
              </a:ext>
            </a:extLst>
          </p:cNvPr>
          <p:cNvSpPr>
            <a:spLocks noGrp="1"/>
          </p:cNvSpPr>
          <p:nvPr>
            <p:ph type="title"/>
          </p:nvPr>
        </p:nvSpPr>
        <p:spPr>
          <a:xfrm>
            <a:off x="1950663" y="76660"/>
            <a:ext cx="7511614" cy="1231901"/>
          </a:xfrm>
        </p:spPr>
        <p:txBody>
          <a:bodyPr/>
          <a:lstStyle/>
          <a:p>
            <a:r>
              <a:rPr lang="en-US" dirty="0"/>
              <a:t>Upload image data in the cloud with Azure Storage</a:t>
            </a:r>
          </a:p>
        </p:txBody>
      </p:sp>
      <p:sp>
        <p:nvSpPr>
          <p:cNvPr id="3" name="Content Placeholder 2">
            <a:extLst>
              <a:ext uri="{FF2B5EF4-FFF2-40B4-BE49-F238E27FC236}">
                <a16:creationId xmlns:a16="http://schemas.microsoft.com/office/drawing/2014/main" id="{11A8E15F-8772-424F-8FB8-1EF53AAE64B5}"/>
              </a:ext>
            </a:extLst>
          </p:cNvPr>
          <p:cNvSpPr>
            <a:spLocks noGrp="1"/>
          </p:cNvSpPr>
          <p:nvPr>
            <p:ph idx="1"/>
          </p:nvPr>
        </p:nvSpPr>
        <p:spPr/>
        <p:txBody>
          <a:bodyPr/>
          <a:lstStyle/>
          <a:p>
            <a:pPr marL="457200" indent="-457200">
              <a:buFont typeface="Wingdings" panose="05000000000000000000" pitchFamily="2" charset="2"/>
              <a:buChar char="Ø"/>
            </a:pPr>
            <a:r>
              <a:rPr lang="en-US" dirty="0">
                <a:solidFill>
                  <a:srgbClr val="000000"/>
                </a:solidFill>
                <a:latin typeface="segoe-ui_normal"/>
              </a:rPr>
              <a:t>Create a storage account</a:t>
            </a:r>
          </a:p>
          <a:p>
            <a:pPr marL="457200" indent="-457200">
              <a:buFont typeface="Wingdings" panose="05000000000000000000" pitchFamily="2" charset="2"/>
              <a:buChar char="Ø"/>
            </a:pPr>
            <a:r>
              <a:rPr lang="en-US" dirty="0">
                <a:solidFill>
                  <a:srgbClr val="000000"/>
                </a:solidFill>
                <a:latin typeface="segoe-ui_normal"/>
              </a:rPr>
              <a:t>Create a container and set permissions</a:t>
            </a:r>
          </a:p>
          <a:p>
            <a:pPr marL="457200" indent="-457200">
              <a:buFont typeface="Wingdings" panose="05000000000000000000" pitchFamily="2" charset="2"/>
              <a:buChar char="Ø"/>
            </a:pPr>
            <a:r>
              <a:rPr lang="en-US" dirty="0">
                <a:solidFill>
                  <a:srgbClr val="000000"/>
                </a:solidFill>
                <a:latin typeface="segoe-ui_normal"/>
              </a:rPr>
              <a:t>Retrieve an access key</a:t>
            </a:r>
          </a:p>
          <a:p>
            <a:pPr marL="457200" indent="-457200">
              <a:buFont typeface="Wingdings" panose="05000000000000000000" pitchFamily="2" charset="2"/>
              <a:buChar char="Ø"/>
            </a:pPr>
            <a:r>
              <a:rPr lang="en-US" dirty="0">
                <a:solidFill>
                  <a:srgbClr val="000000"/>
                </a:solidFill>
                <a:latin typeface="segoe-ui_normal"/>
              </a:rPr>
              <a:t>Configure application settings</a:t>
            </a:r>
          </a:p>
          <a:p>
            <a:pPr marL="457200" indent="-457200">
              <a:buFont typeface="Wingdings" panose="05000000000000000000" pitchFamily="2" charset="2"/>
              <a:buChar char="Ø"/>
            </a:pPr>
            <a:r>
              <a:rPr lang="en-US" dirty="0">
                <a:solidFill>
                  <a:srgbClr val="000000"/>
                </a:solidFill>
                <a:latin typeface="segoe-ui_normal"/>
              </a:rPr>
              <a:t>Deploy a Web App to Azure</a:t>
            </a:r>
          </a:p>
          <a:p>
            <a:pPr marL="457200" indent="-457200">
              <a:buFont typeface="Wingdings" panose="05000000000000000000" pitchFamily="2" charset="2"/>
              <a:buChar char="Ø"/>
            </a:pPr>
            <a:r>
              <a:rPr lang="en-US" dirty="0">
                <a:solidFill>
                  <a:srgbClr val="000000"/>
                </a:solidFill>
                <a:latin typeface="segoe-ui_normal"/>
              </a:rPr>
              <a:t>Interact with the web application</a:t>
            </a:r>
          </a:p>
          <a:p>
            <a:endParaRPr lang="en-US" dirty="0">
              <a:hlinkClick r:id="rId3"/>
            </a:endParaRPr>
          </a:p>
          <a:p>
            <a:endParaRPr lang="en-US" dirty="0">
              <a:hlinkClick r:id="rId3"/>
            </a:endParaRPr>
          </a:p>
          <a:p>
            <a:r>
              <a:rPr lang="en-US" dirty="0">
                <a:hlinkClick r:id="rId3"/>
              </a:rPr>
              <a:t>https://docs.microsoft.com/en-us/azure/storage/blobs/storage-upload-process-images</a:t>
            </a:r>
            <a:endParaRPr lang="en-US" dirty="0"/>
          </a:p>
          <a:p>
            <a:endParaRPr lang="en-US" dirty="0"/>
          </a:p>
        </p:txBody>
      </p:sp>
    </p:spTree>
    <p:extLst>
      <p:ext uri="{BB962C8B-B14F-4D97-AF65-F5344CB8AC3E}">
        <p14:creationId xmlns:p14="http://schemas.microsoft.com/office/powerpoint/2010/main" val="4202411764"/>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3893</Words>
  <Application>Microsoft Office PowerPoint</Application>
  <PresentationFormat>On-screen Show (4:3)</PresentationFormat>
  <Paragraphs>619</Paragraphs>
  <Slides>69</Slides>
  <Notes>23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69</vt:i4>
      </vt:variant>
    </vt:vector>
  </HeadingPairs>
  <TitlesOfParts>
    <vt:vector size="83" baseType="lpstr">
      <vt:lpstr>Verdana</vt:lpstr>
      <vt:lpstr>Calibri Light</vt:lpstr>
      <vt:lpstr>Segoe UI Light</vt:lpstr>
      <vt:lpstr>segoe-ui_normal</vt:lpstr>
      <vt:lpstr>Symbol</vt:lpstr>
      <vt:lpstr>Arial</vt:lpstr>
      <vt:lpstr>Calibri</vt:lpstr>
      <vt:lpstr>Consolas</vt:lpstr>
      <vt:lpstr>Segoe UI</vt:lpstr>
      <vt:lpstr>Courier New</vt:lpstr>
      <vt:lpstr>Wingdings</vt:lpstr>
      <vt:lpstr>Times New Roman</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PowerShell Implementation</vt:lpstr>
      <vt:lpstr>Blob Storage Services</vt:lpstr>
      <vt:lpstr>Block Blobs</vt:lpstr>
      <vt:lpstr>Append Blobs</vt:lpstr>
      <vt:lpstr>Page Blob</vt:lpstr>
      <vt:lpstr>Transporting Data </vt:lpstr>
      <vt:lpstr>Containers </vt:lpstr>
      <vt:lpstr>PowerShell Implementation</vt:lpstr>
      <vt:lpstr>Table Storage Services</vt:lpstr>
      <vt:lpstr>Table Storage</vt:lpstr>
      <vt:lpstr>Queue Storage Services</vt:lpstr>
      <vt:lpstr>Implementing Queues</vt:lpstr>
      <vt:lpstr>File Storage</vt:lpstr>
      <vt:lpstr>Why Azure Files is Useful</vt:lpstr>
      <vt:lpstr>Key benefits </vt:lpstr>
      <vt:lpstr>Scenarios </vt:lpstr>
      <vt:lpstr>Azure Files and Azure Blobs Comparison</vt:lpstr>
      <vt:lpstr>Azure Files and Azure Disks Comparison</vt:lpstr>
      <vt:lpstr>Creating a File Share </vt:lpstr>
      <vt:lpstr>Create File Share using PowerShell </vt:lpstr>
      <vt:lpstr>Create Azure File Share using Azure CLI</vt:lpstr>
      <vt:lpstr>CDN</vt:lpstr>
      <vt:lpstr>Configure CDN profile</vt:lpstr>
      <vt:lpstr>StorSimple</vt:lpstr>
      <vt:lpstr>Manage Access</vt:lpstr>
      <vt:lpstr>Secure Storage Account using RBAC</vt:lpstr>
      <vt:lpstr>Managing Storage Account Keys</vt:lpstr>
      <vt:lpstr>Key regeneration plan </vt:lpstr>
      <vt:lpstr>Azure Key Vault</vt:lpstr>
      <vt:lpstr>Shared Access Signatures </vt:lpstr>
      <vt:lpstr>Why use Shared Access Signatures </vt:lpstr>
      <vt:lpstr>What is a Shared Access Signature</vt:lpstr>
      <vt:lpstr>Shared Access Signature authentication to Azure Storage Service</vt:lpstr>
      <vt:lpstr>Creation of SAS </vt:lpstr>
      <vt:lpstr>Revocation of SAS </vt:lpstr>
      <vt:lpstr>Implement Storage Encryption  </vt:lpstr>
      <vt:lpstr>Transit-Level Encryption – using HTTPS</vt:lpstr>
      <vt:lpstr>Encryption during transit with Azure File shares </vt:lpstr>
      <vt:lpstr>Storage Service Encryption (SSE)</vt:lpstr>
      <vt:lpstr>Client-side Encryption </vt:lpstr>
      <vt:lpstr>Azure Disk Encryption </vt:lpstr>
      <vt:lpstr>Supported by Azure Disk Encryption</vt:lpstr>
      <vt:lpstr>Not Support by Azure Disk Encryption</vt:lpstr>
      <vt:lpstr>Comparison of Azure Disk Encryption, SSE and CSE</vt:lpstr>
      <vt:lpstr>Configure diagnostics, monitoring, and analytics  </vt:lpstr>
      <vt:lpstr>Storage Analytics to monitor authorization type</vt:lpstr>
      <vt:lpstr>Retention Policy for Storage Analytics Data </vt:lpstr>
      <vt:lpstr>Setting a Data Retention Policy </vt:lpstr>
      <vt:lpstr>Storage Log</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lpstr>Upload image data in the cloud with Azure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2018-06-03T23:42:10Z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5212135-9234-47a0-a836-df5f1b370b97_Enabled">
    <vt:lpwstr>True</vt:lpwstr>
  </property>
  <property fmtid="{D5CDD505-2E9C-101B-9397-08002B2CF9AE}" pid="3" name="MSIP_Label_75212135-9234-47a0-a836-df5f1b370b97_SiteId">
    <vt:lpwstr>511ce6e0-0e57-4c9f-acd1-4154a6b4c914</vt:lpwstr>
  </property>
  <property fmtid="{D5CDD505-2E9C-101B-9397-08002B2CF9AE}" pid="4" name="MSIP_Label_75212135-9234-47a0-a836-df5f1b370b97_Owner">
    <vt:lpwstr>jcruz@etms.com.mx</vt:lpwstr>
  </property>
  <property fmtid="{D5CDD505-2E9C-101B-9397-08002B2CF9AE}" pid="5" name="MSIP_Label_75212135-9234-47a0-a836-df5f1b370b97_SetDate">
    <vt:lpwstr>2018-06-03T23:41:53.9779861Z</vt:lpwstr>
  </property>
  <property fmtid="{D5CDD505-2E9C-101B-9397-08002B2CF9AE}" pid="6" name="MSIP_Label_75212135-9234-47a0-a836-df5f1b370b97_Name">
    <vt:lpwstr>Public</vt:lpwstr>
  </property>
  <property fmtid="{D5CDD505-2E9C-101B-9397-08002B2CF9AE}" pid="7" name="MSIP_Label_75212135-9234-47a0-a836-df5f1b370b97_Application">
    <vt:lpwstr>Microsoft Azure Information Protection</vt:lpwstr>
  </property>
  <property fmtid="{D5CDD505-2E9C-101B-9397-08002B2CF9AE}" pid="8" name="MSIP_Label_75212135-9234-47a0-a836-df5f1b370b97_Extended_MSFT_Method">
    <vt:lpwstr>Automatic</vt:lpwstr>
  </property>
  <property fmtid="{D5CDD505-2E9C-101B-9397-08002B2CF9AE}" pid="9" name="MSIP_Label_f42aa342-8706-4288-bd11-ebb85995028c_Enabled">
    <vt:lpwstr>True</vt:lpwstr>
  </property>
  <property fmtid="{D5CDD505-2E9C-101B-9397-08002B2CF9AE}" pid="10" name="MSIP_Label_f42aa342-8706-4288-bd11-ebb85995028c_SiteId">
    <vt:lpwstr>72f988bf-86f1-41af-91ab-2d7cd011db47</vt:lpwstr>
  </property>
  <property fmtid="{D5CDD505-2E9C-101B-9397-08002B2CF9AE}" pid="11" name="MSIP_Label_f42aa342-8706-4288-bd11-ebb85995028c_Owner">
    <vt:lpwstr>dstolts@microsoft.com</vt:lpwstr>
  </property>
  <property fmtid="{D5CDD505-2E9C-101B-9397-08002B2CF9AE}" pid="12" name="MSIP_Label_f42aa342-8706-4288-bd11-ebb85995028c_SetDate">
    <vt:lpwstr>2018-01-19T07:33:26.9972805Z</vt:lpwstr>
  </property>
  <property fmtid="{D5CDD505-2E9C-101B-9397-08002B2CF9AE}" pid="13" name="MSIP_Label_f42aa342-8706-4288-bd11-ebb85995028c_Name">
    <vt:lpwstr>General</vt:lpwstr>
  </property>
  <property fmtid="{D5CDD505-2E9C-101B-9397-08002B2CF9AE}" pid="14" name="MSIP_Label_f42aa342-8706-4288-bd11-ebb85995028c_Application">
    <vt:lpwstr>Microsoft Azure Information Protection</vt:lpwstr>
  </property>
  <property fmtid="{D5CDD505-2E9C-101B-9397-08002B2CF9AE}" pid="15" name="MSIP_Label_f42aa342-8706-4288-bd11-ebb85995028c_Extended_MSFT_Method">
    <vt:lpwstr>Automatic</vt:lpwstr>
  </property>
  <property fmtid="{D5CDD505-2E9C-101B-9397-08002B2CF9AE}" pid="16" name="Sensitivity">
    <vt:lpwstr>Public General</vt:lpwstr>
  </property>
</Properties>
</file>